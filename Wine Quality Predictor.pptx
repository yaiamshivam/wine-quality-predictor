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VRzsRAGGo9WR7YQE6g2S7zIcD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slide" Target="slides/slide1.xml"/><Relationship Id="rId19" Type="http://schemas.openxmlformats.org/officeDocument/2006/relationships/font" Target="fonts/Roboto-italic.fntdata"/><Relationship Id="rId6" Type="http://schemas.openxmlformats.org/officeDocument/2006/relationships/slide" Target="slides/slide2.xml"/><Relationship Id="rId18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12.png"/><Relationship Id="rId11" Type="http://schemas.openxmlformats.org/officeDocument/2006/relationships/image" Target="../media/image19.png"/><Relationship Id="rId10" Type="http://schemas.openxmlformats.org/officeDocument/2006/relationships/image" Target="../media/image10.png"/><Relationship Id="rId9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793790" y="2783086"/>
            <a:ext cx="609647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Wine Quality Predictor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793790" y="3832027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Application Project</a:t>
            </a: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Machine Learning for Quality Classification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793790" y="4450080"/>
            <a:ext cx="1997035" cy="441484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937498" y="4525685"/>
            <a:ext cx="170961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KUNAL · 25BAI70432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2904173" y="4450080"/>
            <a:ext cx="2039303" cy="441484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3047881" y="4525685"/>
            <a:ext cx="1751886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AKSHIT · 25BAI70679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5056823" y="4450080"/>
            <a:ext cx="2090499" cy="441484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5200531" y="4525685"/>
            <a:ext cx="1803083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SHIVAM · 25BAI70897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793790" y="5004911"/>
            <a:ext cx="2005013" cy="441484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937498" y="5080516"/>
            <a:ext cx="1717596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DAKSH · 25BAI70806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2912150" y="5004911"/>
            <a:ext cx="2267664" cy="441484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3055858" y="5080516"/>
            <a:ext cx="198024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LOVENISH · 25BAI70632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/>
          <p:nvPr/>
        </p:nvSpPr>
        <p:spPr>
          <a:xfrm>
            <a:off x="6267807" y="666631"/>
            <a:ext cx="7581186" cy="1395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350"/>
              <a:buFont typeface="Roboto Slab"/>
              <a:buNone/>
            </a:pPr>
            <a:r>
              <a:rPr b="0" i="0" lang="en-US" sz="4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What Is Wine Quality Prediction?</a:t>
            </a:r>
            <a:endParaRPr b="0" i="0" sz="4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6267807" y="2391728"/>
            <a:ext cx="7581186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Wine quality prediction uses </a:t>
            </a:r>
            <a:r>
              <a:rPr b="1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to estimate a wine's quality score (1–10) based on its chemical composition — eliminating the need for costly, time-consuming human sensory panels.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267807" y="3701891"/>
            <a:ext cx="3680698" cy="1997750"/>
          </a:xfrm>
          <a:prstGeom prst="roundRect">
            <a:avLst>
              <a:gd fmla="val 167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491049" y="3925133"/>
            <a:ext cx="2892862" cy="356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Roboto Slab"/>
              <a:buNone/>
            </a:pPr>
            <a:r>
              <a:rPr b="0" i="0" lang="en-US" sz="2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⚗️</a:t>
            </a:r>
            <a:r>
              <a:rPr b="0" i="0" lang="en-US" sz="2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Chemical Analysis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491049" y="4413409"/>
            <a:ext cx="3234214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Lab-measured properties like pH, acidity, and alcohol serve as input features for the model.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10168295" y="3701891"/>
            <a:ext cx="3680698" cy="1997750"/>
          </a:xfrm>
          <a:prstGeom prst="roundRect">
            <a:avLst>
              <a:gd fmla="val 167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10391537" y="3925133"/>
            <a:ext cx="2790944" cy="356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Roboto Slab"/>
              <a:buNone/>
            </a:pPr>
            <a:r>
              <a:rPr b="0" i="0" lang="en-US" sz="2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🤖</a:t>
            </a:r>
            <a:r>
              <a:rPr b="0" i="0" lang="en-US" sz="2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ML Classification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10391537" y="4413409"/>
            <a:ext cx="3234214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Trained algorithms learn patterns linking chemical profiles to quality ratings.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267807" y="5919430"/>
            <a:ext cx="7581186" cy="1643420"/>
          </a:xfrm>
          <a:prstGeom prst="roundRect">
            <a:avLst>
              <a:gd fmla="val 203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491049" y="6142673"/>
            <a:ext cx="2790944" cy="356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Roboto Slab"/>
              <a:buNone/>
            </a:pPr>
            <a:r>
              <a:rPr b="0" i="0" lang="en-US" sz="2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🏭</a:t>
            </a:r>
            <a:r>
              <a:rPr b="0" i="0" lang="en-US" sz="2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Industry Impact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6491049" y="6630948"/>
            <a:ext cx="7134701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Enables faster, consistent quality control across production batches at scale.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/>
          <p:nvPr/>
        </p:nvSpPr>
        <p:spPr>
          <a:xfrm>
            <a:off x="834628" y="594717"/>
            <a:ext cx="4695944" cy="586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650"/>
              <a:buFont typeface="Roboto Slab"/>
              <a:buNone/>
            </a:pPr>
            <a:r>
              <a:rPr b="0" i="0" lang="en-US" sz="36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Problem Statement</a:t>
            </a:r>
            <a:endParaRPr b="0" i="0" sz="3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628" y="1589842"/>
            <a:ext cx="8264247" cy="4612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9564648" y="2992755"/>
            <a:ext cx="2347912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800"/>
              <a:buFont typeface="Roboto Slab"/>
              <a:buNone/>
            </a:pPr>
            <a:r>
              <a:rPr b="0" i="0" lang="en-US" sz="18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Challenge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9564648" y="3441740"/>
            <a:ext cx="4238506" cy="1373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Wine quality is traditionally assessed by expert tasters — a process that is </a:t>
            </a:r>
            <a:r>
              <a:rPr b="1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subjective, slow, and expensive</a:t>
            </a: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The goal is to build a model that predicts a wine's quality score </a:t>
            </a:r>
            <a:r>
              <a:rPr b="1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(1 to 10)</a:t>
            </a: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using only measurable chemical properties.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834628" y="6552248"/>
            <a:ext cx="4216598" cy="1082635"/>
          </a:xfrm>
          <a:prstGeom prst="roundRect">
            <a:avLst>
              <a:gd fmla="val 10135" name="adj"/>
            </a:avLst>
          </a:prstGeom>
          <a:solidFill>
            <a:srgbClr val="FBFCFE"/>
          </a:solidFill>
          <a:ln cap="flat" cmpd="sng" w="22850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6" name="Google Shape;9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768" y="6552248"/>
            <a:ext cx="91440" cy="108263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1113830" y="6762869"/>
            <a:ext cx="2347912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00"/>
              <a:buFont typeface="Roboto Slab"/>
              <a:buNone/>
            </a:pPr>
            <a:r>
              <a:rPr b="0" i="0" lang="en-US" sz="1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113830" y="7149584"/>
            <a:ext cx="3726775" cy="274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11 chemical features per wine sample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206722" y="6552248"/>
            <a:ext cx="4216718" cy="1082635"/>
          </a:xfrm>
          <a:prstGeom prst="roundRect">
            <a:avLst>
              <a:gd fmla="val 10135" name="adj"/>
            </a:avLst>
          </a:prstGeom>
          <a:solidFill>
            <a:srgbClr val="FBFCFE"/>
          </a:solidFill>
          <a:ln cap="flat" cmpd="sng" w="22850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0" name="Google Shape;1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3862" y="6552248"/>
            <a:ext cx="91440" cy="108263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5485924" y="6762869"/>
            <a:ext cx="2347912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00"/>
              <a:buFont typeface="Roboto Slab"/>
              <a:buNone/>
            </a:pPr>
            <a:r>
              <a:rPr b="0" i="0" lang="en-US" sz="1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485924" y="7149584"/>
            <a:ext cx="3726894" cy="274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Predicted quality score (integer 1–10)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9578935" y="6552248"/>
            <a:ext cx="4216718" cy="1082635"/>
          </a:xfrm>
          <a:prstGeom prst="roundRect">
            <a:avLst>
              <a:gd fmla="val 10135" name="adj"/>
            </a:avLst>
          </a:prstGeom>
          <a:solidFill>
            <a:srgbClr val="FBFCFE"/>
          </a:solidFill>
          <a:ln cap="flat" cmpd="sng" w="22850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" name="Google Shape;10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6075" y="6552248"/>
            <a:ext cx="91440" cy="108263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9858137" y="6762869"/>
            <a:ext cx="2347912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00"/>
              <a:buFont typeface="Roboto Slab"/>
              <a:buNone/>
            </a:pPr>
            <a:r>
              <a:rPr b="0" i="0" lang="en-US" sz="1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Approach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858137" y="7149584"/>
            <a:ext cx="3726894" cy="274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Supervised ML classification / regression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793790" y="81784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Dataset Overview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93790" y="1980248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The project uses the </a:t>
            </a:r>
            <a:r>
              <a:rPr b="1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UCI Wine Quality Dataset</a:t>
            </a: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a widely cited benchmark in ML research, combining physicochemical test results with sensory quality ratings.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93790" y="3074551"/>
            <a:ext cx="6379607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850"/>
              <a:buFont typeface="Roboto Slab"/>
              <a:buNone/>
            </a:pPr>
            <a:r>
              <a:rPr b="0" i="0" lang="en-US" sz="5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7,348</a:t>
            </a:r>
            <a:endParaRPr b="0" i="0" sz="5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565916" y="41063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Total Samples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93790" y="4596765"/>
            <a:ext cx="63796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Wine instances across red and white varieties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456884" y="3074551"/>
            <a:ext cx="6379726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850"/>
              <a:buFont typeface="Roboto Slab"/>
              <a:buNone/>
            </a:pPr>
            <a:r>
              <a:rPr b="0" i="0" lang="en-US" sz="5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11</a:t>
            </a:r>
            <a:endParaRPr b="0" i="0" sz="5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9229130" y="41063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Input Features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456884" y="4596765"/>
            <a:ext cx="63797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Chemical and physical properties per sample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93790" y="5526643"/>
            <a:ext cx="6379607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850"/>
              <a:buFont typeface="Roboto Slab"/>
              <a:buNone/>
            </a:pPr>
            <a:r>
              <a:rPr b="0" i="0" lang="en-US" sz="5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5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565916" y="655843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Target Variable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93790" y="7048857"/>
            <a:ext cx="63796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Quality score rated 1–10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456884" y="5526643"/>
            <a:ext cx="6379726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850"/>
              <a:buFont typeface="Roboto Slab"/>
              <a:buNone/>
            </a:pPr>
            <a:r>
              <a:rPr b="0" i="0" lang="en-US" sz="5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12</a:t>
            </a:r>
            <a:endParaRPr b="0" i="0" sz="5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9229130" y="655843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Total Columns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456884" y="7048857"/>
            <a:ext cx="63797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Including the quality label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793790" y="862965"/>
            <a:ext cx="628769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Key Features Explained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93790" y="2025372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Each wine sample is described by </a:t>
            </a:r>
            <a:r>
              <a:rPr b="1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11 physicochemical measurements</a:t>
            </a: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that collectively influence taste, aroma, and perceived quality.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006328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793790" y="3743444"/>
            <a:ext cx="312551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Fixed &amp; Volatile Acidity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93790" y="4233863"/>
            <a:ext cx="63796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Measure tartness and vinegar-like notes; key to flavor balance.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6884" y="3006328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7456884" y="374344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pH &amp; Density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456884" y="4233863"/>
            <a:ext cx="63797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pH indicates acidity level; density reflects sugar and alcohol content.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413296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793790" y="61504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Alcohol Content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793790" y="6640830"/>
            <a:ext cx="637960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Strongly correlated with quality — higher alcohol often signals better fermentation.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2" name="Google Shape;14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6884" y="5413296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7456884" y="61504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Sulfur Dioxide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456884" y="6640830"/>
            <a:ext cx="63797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Free and total SO₂ act as preservatives, affecting freshness and stability.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793790" y="72211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Methodology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3852" y="1884521"/>
            <a:ext cx="10142696" cy="4642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1188" y="3043506"/>
            <a:ext cx="652132" cy="65213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10010178" y="5424199"/>
            <a:ext cx="1904228" cy="3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300"/>
              <a:buFont typeface="Roboto Slab"/>
              <a:buNone/>
            </a:pPr>
            <a:r>
              <a:rPr b="0" i="0" lang="en-US" sz="2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Predict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4" name="Google Shape;15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03771" y="3044729"/>
            <a:ext cx="652132" cy="6521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7610329" y="5424199"/>
            <a:ext cx="1904228" cy="3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300"/>
              <a:buFont typeface="Roboto Slab"/>
              <a:buNone/>
            </a:pPr>
            <a:r>
              <a:rPr b="0" i="0" lang="en-US" sz="2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Evaluate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6" name="Google Shape;15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6964" y="3044729"/>
            <a:ext cx="652133" cy="65213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5223523" y="5424199"/>
            <a:ext cx="1904228" cy="3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300"/>
              <a:buFont typeface="Roboto Slab"/>
              <a:buNone/>
            </a:pPr>
            <a:r>
              <a:rPr b="0" i="0" lang="en-US" sz="2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Train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8" name="Google Shape;15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7115" y="3044729"/>
            <a:ext cx="652133" cy="65213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2784546" y="5424199"/>
            <a:ext cx="1904228" cy="3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300"/>
              <a:buFont typeface="Roboto Slab"/>
              <a:buNone/>
            </a:pPr>
            <a:r>
              <a:rPr b="0" i="0" lang="en-US" sz="2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Preprocess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93790" y="6781681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The pipeline follows a standard supervised learning workflow — from raw data cleaning through model evaluation — ensuring reproducible and reliable quality predictions.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/>
          <p:nvPr/>
        </p:nvSpPr>
        <p:spPr>
          <a:xfrm>
            <a:off x="1568291" y="530662"/>
            <a:ext cx="4164330" cy="520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250"/>
              <a:buFont typeface="Roboto Slab"/>
              <a:buNone/>
            </a:pPr>
            <a:r>
              <a:rPr b="0" i="0" lang="en-US" sz="3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Model Selection</a:t>
            </a:r>
            <a:endParaRPr b="0" i="0" sz="3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8291" y="1372195"/>
            <a:ext cx="5543669" cy="5543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8291" y="1372195"/>
            <a:ext cx="5543669" cy="554366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7"/>
          <p:cNvSpPr/>
          <p:nvPr/>
        </p:nvSpPr>
        <p:spPr>
          <a:xfrm>
            <a:off x="7525822" y="3727728"/>
            <a:ext cx="2092047" cy="26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00"/>
              <a:buFont typeface="Roboto Slab"/>
              <a:buNone/>
            </a:pPr>
            <a:r>
              <a:rPr b="0" i="0" lang="en-US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Why Random Forest?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525822" y="4110276"/>
            <a:ext cx="5543669" cy="462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Random Forest was selected as the primary model due to its robustness and ability to handle tabular data with mixed feature scales.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1" name="Google Shape;1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0680" y="7199174"/>
            <a:ext cx="249793" cy="24979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2109549" y="7190899"/>
            <a:ext cx="3188018" cy="462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Handles non-linear relationships</a:t>
            </a:r>
            <a:r>
              <a:rPr b="0" i="0" lang="en-US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between chemical features and quality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3" name="Google Shape;17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2832" y="7199174"/>
            <a:ext cx="249793" cy="2497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5991701" y="7190899"/>
            <a:ext cx="3188018" cy="462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Resistant to overfitting</a:t>
            </a:r>
            <a:r>
              <a:rPr b="0" i="0" lang="en-US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through ensemble averaging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5" name="Google Shape;17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94984" y="7199174"/>
            <a:ext cx="249793" cy="24979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9873853" y="7190899"/>
            <a:ext cx="3188018" cy="462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Provides feature importance</a:t>
            </a:r>
            <a:r>
              <a:rPr b="0" i="0" lang="en-US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for interpretability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6069330" y="539710"/>
            <a:ext cx="4372451" cy="520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250"/>
              <a:buFont typeface="Roboto Slab"/>
              <a:buNone/>
            </a:pPr>
            <a:r>
              <a:rPr b="0" i="0" lang="en-US" sz="3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Implementation Stack</a:t>
            </a:r>
            <a:endParaRPr b="0" i="0" sz="3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069330" y="1243727"/>
            <a:ext cx="7978140" cy="1519833"/>
          </a:xfrm>
          <a:prstGeom prst="roundRect">
            <a:avLst>
              <a:gd fmla="val 164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5" name="Google Shape;1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5898" y="1410295"/>
            <a:ext cx="499705" cy="499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3297" y="1547693"/>
            <a:ext cx="224790" cy="22479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6235898" y="2032278"/>
            <a:ext cx="2082165" cy="26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 Slab"/>
              <a:buNone/>
            </a:pPr>
            <a:r>
              <a:rPr b="0" i="0" lang="en-US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Python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235898" y="2365891"/>
            <a:ext cx="7645003" cy="2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Core programming language for all data processing and modeling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069330" y="2885837"/>
            <a:ext cx="7978140" cy="1519833"/>
          </a:xfrm>
          <a:prstGeom prst="roundRect">
            <a:avLst>
              <a:gd fmla="val 164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0" name="Google Shape;19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5898" y="3052405"/>
            <a:ext cx="499705" cy="499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3297" y="3189803"/>
            <a:ext cx="224790" cy="22479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6235898" y="3674388"/>
            <a:ext cx="2082165" cy="26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 Slab"/>
              <a:buNone/>
            </a:pPr>
            <a:r>
              <a:rPr b="0" i="0" lang="en-US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Google Colab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235898" y="4008001"/>
            <a:ext cx="7645003" cy="2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Cloud-based Jupyter environment — no local setup required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069330" y="4527947"/>
            <a:ext cx="7978140" cy="1519833"/>
          </a:xfrm>
          <a:prstGeom prst="roundRect">
            <a:avLst>
              <a:gd fmla="val 164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5" name="Google Shape;19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5898" y="4694515"/>
            <a:ext cx="499705" cy="499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73297" y="4831913"/>
            <a:ext cx="224790" cy="22479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6235898" y="5316498"/>
            <a:ext cx="2082165" cy="26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 Slab"/>
              <a:buNone/>
            </a:pPr>
            <a:r>
              <a:rPr b="0" i="0" lang="en-US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Pandas &amp; NumPy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235898" y="5650111"/>
            <a:ext cx="7645003" cy="2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Data loading, cleaning, transformation, and numerical computation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6069330" y="6170057"/>
            <a:ext cx="7978140" cy="1519833"/>
          </a:xfrm>
          <a:prstGeom prst="roundRect">
            <a:avLst>
              <a:gd fmla="val 164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0" name="Google Shape;200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35898" y="6336625"/>
            <a:ext cx="499705" cy="499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73297" y="6474023"/>
            <a:ext cx="224790" cy="22479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6235898" y="6958608"/>
            <a:ext cx="2082165" cy="26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 Slab"/>
              <a:buNone/>
            </a:pPr>
            <a:r>
              <a:rPr b="0" i="0" lang="en-US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Scikit-Learn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235898" y="7292221"/>
            <a:ext cx="7645003" cy="2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Model training, evaluation metrics, and preprocessing utilities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1339498" y="902398"/>
            <a:ext cx="40278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00"/>
              <a:buFont typeface="Roboto Slab"/>
              <a:buNone/>
            </a:pPr>
            <a:r>
              <a:rPr b="0" i="0" lang="en-US" sz="3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Results &amp; Output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0" name="Google Shape;2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85" y="1963676"/>
            <a:ext cx="6350501" cy="514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/>
          <p:nvPr/>
        </p:nvSpPr>
        <p:spPr>
          <a:xfrm>
            <a:off x="7461175" y="2533473"/>
            <a:ext cx="3774300" cy="22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100"/>
              <a:buFont typeface="Roboto Slab"/>
              <a:buNone/>
            </a:pPr>
            <a:r>
              <a:rPr b="0" i="0" lang="en-US" sz="30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Model Performance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7461175" y="3504425"/>
            <a:ext cx="6350400" cy="14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en-US" sz="1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Random Forest outperformed baseline models, achieving </a:t>
            </a:r>
            <a:r>
              <a:rPr b="1" i="0" lang="en-US" sz="1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~81% accuracy</a:t>
            </a:r>
            <a:r>
              <a:rPr b="0" i="0" lang="en-US" sz="1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on the held-out test set — a strong result for a 10-class quality prediction task.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461175" y="5248325"/>
            <a:ext cx="5817900" cy="1488600"/>
          </a:xfrm>
          <a:prstGeom prst="roundRect">
            <a:avLst>
              <a:gd fmla="val 3660" name="adj"/>
            </a:avLst>
          </a:prstGeom>
          <a:solidFill>
            <a:srgbClr val="C3C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4533" y="5464914"/>
            <a:ext cx="305625" cy="24452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/>
          <p:nvPr/>
        </p:nvSpPr>
        <p:spPr>
          <a:xfrm>
            <a:off x="7880149" y="5464925"/>
            <a:ext cx="5398800" cy="14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Sample Prediction: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Input chemical values → Model outputs a quality score of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 / 10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classified as "Good" quality wine.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793790" y="1371124"/>
            <a:ext cx="1015996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Advantages, Limitations &amp; Conclusion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30436" y="2420064"/>
            <a:ext cx="6571417" cy="4438412"/>
          </a:xfrm>
          <a:prstGeom prst="roundRect">
            <a:avLst>
              <a:gd fmla="val 767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857250" y="2646878"/>
            <a:ext cx="28352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0" i="0" lang="en-US" sz="2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Advantages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857250" y="3235643"/>
            <a:ext cx="6117788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Fast, consistent predictions vs. human tasting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Supports data-driven quality control in wineries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Reduces cost and subjectivity in testing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Feature importance reveals key quality drivers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7599521" y="2646878"/>
            <a:ext cx="40353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🔭</a:t>
            </a:r>
            <a:r>
              <a:rPr b="0" i="0" lang="en-US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Limitations &amp; Future Scope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7599521" y="3235643"/>
            <a:ext cx="6244709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Accuracy can improve with larger, more diverse datasets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Model limited to chemical features — no aroma/taste data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Future: real-time deployment via API or mobile app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Explore deep learning for higher precision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7599521" y="5236964"/>
            <a:ext cx="6244709" cy="16907"/>
          </a:xfrm>
          <a:prstGeom prst="rect">
            <a:avLst/>
          </a:prstGeom>
          <a:solidFill>
            <a:srgbClr val="15213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599521" y="5565696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Key Takeaway:</a:t>
            </a: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This project demonstrates how supervised ML can automate a traditionally subjective process — delivering measurable value to the wine industry.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