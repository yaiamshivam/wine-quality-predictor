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Semi-Bold" charset="1" panose="00000700000000000000"/>
      <p:regular r:id="rId18"/>
    </p:embeddedFont>
    <p:embeddedFont>
      <p:font typeface="Poppins Bold" charset="1" panose="00000800000000000000"/>
      <p:regular r:id="rId19"/>
    </p:embeddedFont>
    <p:embeddedFont>
      <p:font typeface="Poppin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1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2.png" Type="http://schemas.openxmlformats.org/officeDocument/2006/relationships/image"/><Relationship Id="rId4" Target="../media/image14.jpeg" Type="http://schemas.openxmlformats.org/officeDocument/2006/relationships/image"/><Relationship Id="rId5"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 Id="rId5" Target="../media/image18.jpe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png" Type="http://schemas.openxmlformats.org/officeDocument/2006/relationships/image"/><Relationship Id="rId4" Target="../media/image2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2.png" Type="http://schemas.openxmlformats.org/officeDocument/2006/relationships/image"/><Relationship Id="rId4" Target="../media/image32.jpe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2.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51.jpeg" Type="http://schemas.openxmlformats.org/officeDocument/2006/relationships/image"/><Relationship Id="rId12" Target="../media/image52.png" Type="http://schemas.openxmlformats.org/officeDocument/2006/relationships/image"/><Relationship Id="rId13" Target="../media/image53.png" Type="http://schemas.openxmlformats.org/officeDocument/2006/relationships/image"/><Relationship Id="rId14" Target="../media/image54.svg" Type="http://schemas.openxmlformats.org/officeDocument/2006/relationships/image"/><Relationship Id="rId2" Target="../media/image46.png" Type="http://schemas.openxmlformats.org/officeDocument/2006/relationships/image"/><Relationship Id="rId3" Target="../media/image2.png" Type="http://schemas.openxmlformats.org/officeDocument/2006/relationships/image"/><Relationship Id="rId4" Target="../media/image47.jpeg" Type="http://schemas.openxmlformats.org/officeDocument/2006/relationships/image"/><Relationship Id="rId5" Target="../media/image48.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403037" y="5332968"/>
            <a:ext cx="38130306" cy="5338243"/>
          </a:xfrm>
          <a:custGeom>
            <a:avLst/>
            <a:gdLst/>
            <a:ahLst/>
            <a:cxnLst/>
            <a:rect r="r" b="b" t="t" l="l"/>
            <a:pathLst>
              <a:path h="5338243" w="38130306">
                <a:moveTo>
                  <a:pt x="0" y="0"/>
                </a:moveTo>
                <a:lnTo>
                  <a:pt x="38130306" y="0"/>
                </a:lnTo>
                <a:lnTo>
                  <a:pt x="38130306" y="5338243"/>
                </a:lnTo>
                <a:lnTo>
                  <a:pt x="0" y="5338243"/>
                </a:lnTo>
                <a:lnTo>
                  <a:pt x="0" y="0"/>
                </a:lnTo>
                <a:close/>
              </a:path>
            </a:pathLst>
          </a:custGeom>
          <a:blipFill>
            <a:blip r:embed="rId2">
              <a:alphaModFix amt="6000"/>
            </a:blip>
            <a:stretch>
              <a:fillRect l="0" t="0" r="0" b="0"/>
            </a:stretch>
          </a:blipFill>
        </p:spPr>
      </p:sp>
      <p:grpSp>
        <p:nvGrpSpPr>
          <p:cNvPr name="Group 3" id="3"/>
          <p:cNvGrpSpPr/>
          <p:nvPr/>
        </p:nvGrpSpPr>
        <p:grpSpPr>
          <a:xfrm rot="-1168322">
            <a:off x="-591160" y="-1840415"/>
            <a:ext cx="7434779" cy="15382828"/>
            <a:chOff x="0" y="0"/>
            <a:chExt cx="1958131" cy="4051444"/>
          </a:xfrm>
        </p:grpSpPr>
        <p:sp>
          <p:nvSpPr>
            <p:cNvPr name="Freeform 4" id="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5" id="5"/>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6579275">
            <a:off x="-3647729" y="4649456"/>
            <a:ext cx="13353097" cy="404258"/>
          </a:xfrm>
          <a:custGeom>
            <a:avLst/>
            <a:gdLst/>
            <a:ahLst/>
            <a:cxnLst/>
            <a:rect r="r" b="b" t="t" l="l"/>
            <a:pathLst>
              <a:path h="404258" w="13353097">
                <a:moveTo>
                  <a:pt x="0" y="0"/>
                </a:moveTo>
                <a:lnTo>
                  <a:pt x="13353096" y="0"/>
                </a:lnTo>
                <a:lnTo>
                  <a:pt x="13353096" y="404258"/>
                </a:lnTo>
                <a:lnTo>
                  <a:pt x="0" y="404258"/>
                </a:lnTo>
                <a:lnTo>
                  <a:pt x="0" y="0"/>
                </a:lnTo>
                <a:close/>
              </a:path>
            </a:pathLst>
          </a:custGeom>
          <a:blipFill>
            <a:blip r:embed="rId3"/>
            <a:stretch>
              <a:fillRect l="0" t="-1843398" r="0" b="0"/>
            </a:stretch>
          </a:blipFill>
        </p:spPr>
      </p:sp>
      <p:grpSp>
        <p:nvGrpSpPr>
          <p:cNvPr name="Group 7" id="7"/>
          <p:cNvGrpSpPr/>
          <p:nvPr/>
        </p:nvGrpSpPr>
        <p:grpSpPr>
          <a:xfrm rot="-1168322">
            <a:off x="-4404526" y="-1840415"/>
            <a:ext cx="7434779" cy="15382828"/>
            <a:chOff x="0" y="0"/>
            <a:chExt cx="1958131" cy="4051444"/>
          </a:xfrm>
        </p:grpSpPr>
        <p:sp>
          <p:nvSpPr>
            <p:cNvPr name="Freeform 8" id="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9" id="9"/>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592816" y="1461689"/>
            <a:ext cx="6973020" cy="7363621"/>
            <a:chOff x="0" y="0"/>
            <a:chExt cx="5960491" cy="6294374"/>
          </a:xfrm>
        </p:grpSpPr>
        <p:sp>
          <p:nvSpPr>
            <p:cNvPr name="Freeform 11" id="11"/>
            <p:cNvSpPr/>
            <p:nvPr/>
          </p:nvSpPr>
          <p:spPr>
            <a:xfrm flipH="false" flipV="false" rot="0">
              <a:off x="0" y="-44"/>
              <a:ext cx="5960480" cy="6294418"/>
            </a:xfrm>
            <a:custGeom>
              <a:avLst/>
              <a:gdLst/>
              <a:ahLst/>
              <a:cxnLst/>
              <a:rect r="r" b="b" t="t" l="l"/>
              <a:pathLst>
                <a:path h="6294418" w="5960480">
                  <a:moveTo>
                    <a:pt x="4226814" y="1119549"/>
                  </a:moveTo>
                  <a:cubicBezTo>
                    <a:pt x="4173601" y="967911"/>
                    <a:pt x="4001770" y="815892"/>
                    <a:pt x="3844798" y="781729"/>
                  </a:cubicBezTo>
                  <a:lnTo>
                    <a:pt x="285369" y="6521"/>
                  </a:lnTo>
                  <a:cubicBezTo>
                    <a:pt x="128397" y="-27642"/>
                    <a:pt x="0" y="75863"/>
                    <a:pt x="0" y="236518"/>
                  </a:cubicBezTo>
                  <a:lnTo>
                    <a:pt x="0" y="6002318"/>
                  </a:lnTo>
                  <a:cubicBezTo>
                    <a:pt x="0" y="6162973"/>
                    <a:pt x="131445" y="6294418"/>
                    <a:pt x="292100" y="6294418"/>
                  </a:cubicBezTo>
                  <a:lnTo>
                    <a:pt x="5749544" y="6294418"/>
                  </a:lnTo>
                  <a:cubicBezTo>
                    <a:pt x="5910199" y="6294418"/>
                    <a:pt x="5998083" y="6170339"/>
                    <a:pt x="5944997" y="6018828"/>
                  </a:cubicBezTo>
                  <a:lnTo>
                    <a:pt x="4226814" y="1119549"/>
                  </a:lnTo>
                  <a:close/>
                </a:path>
              </a:pathLst>
            </a:custGeom>
            <a:blipFill>
              <a:blip r:embed="rId4"/>
              <a:stretch>
                <a:fillRect l="-2801" t="0" r="-2801" b="0"/>
              </a:stretch>
            </a:blipFill>
            <a:ln w="114300" cap="sq">
              <a:solidFill>
                <a:srgbClr val="FFFFFF"/>
              </a:solidFill>
              <a:prstDash val="solid"/>
              <a:miter/>
            </a:ln>
          </p:spPr>
        </p:sp>
      </p:grpSp>
      <p:sp>
        <p:nvSpPr>
          <p:cNvPr name="Freeform 12" id="12"/>
          <p:cNvSpPr/>
          <p:nvPr/>
        </p:nvSpPr>
        <p:spPr>
          <a:xfrm flipH="false" flipV="false" rot="0">
            <a:off x="16480208" y="819426"/>
            <a:ext cx="793566" cy="1204236"/>
          </a:xfrm>
          <a:custGeom>
            <a:avLst/>
            <a:gdLst/>
            <a:ahLst/>
            <a:cxnLst/>
            <a:rect r="r" b="b" t="t" l="l"/>
            <a:pathLst>
              <a:path h="1204236" w="793566">
                <a:moveTo>
                  <a:pt x="0" y="0"/>
                </a:moveTo>
                <a:lnTo>
                  <a:pt x="793566" y="0"/>
                </a:lnTo>
                <a:lnTo>
                  <a:pt x="793566" y="1204236"/>
                </a:lnTo>
                <a:lnTo>
                  <a:pt x="0" y="1204236"/>
                </a:lnTo>
                <a:lnTo>
                  <a:pt x="0" y="0"/>
                </a:lnTo>
                <a:close/>
              </a:path>
            </a:pathLst>
          </a:custGeom>
          <a:blipFill>
            <a:blip r:embed="rId5"/>
            <a:stretch>
              <a:fillRect l="0" t="0" r="0" b="0"/>
            </a:stretch>
          </a:blipFill>
        </p:spPr>
      </p:sp>
      <p:grpSp>
        <p:nvGrpSpPr>
          <p:cNvPr name="Group 13" id="13"/>
          <p:cNvGrpSpPr/>
          <p:nvPr/>
        </p:nvGrpSpPr>
        <p:grpSpPr>
          <a:xfrm rot="-1168322">
            <a:off x="4937715" y="-2713330"/>
            <a:ext cx="887655" cy="8696949"/>
            <a:chOff x="0" y="0"/>
            <a:chExt cx="233786" cy="2290554"/>
          </a:xfrm>
        </p:grpSpPr>
        <p:sp>
          <p:nvSpPr>
            <p:cNvPr name="Freeform 14" id="14"/>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5" id="15"/>
            <p:cNvSpPr txBox="true"/>
            <p:nvPr/>
          </p:nvSpPr>
          <p:spPr>
            <a:xfrm>
              <a:off x="0" y="-57150"/>
              <a:ext cx="233786" cy="23477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1168322">
            <a:off x="7299902" y="5618795"/>
            <a:ext cx="887655" cy="5600547"/>
            <a:chOff x="0" y="0"/>
            <a:chExt cx="233786" cy="1475041"/>
          </a:xfrm>
        </p:grpSpPr>
        <p:sp>
          <p:nvSpPr>
            <p:cNvPr name="Freeform 17" id="17"/>
            <p:cNvSpPr/>
            <p:nvPr/>
          </p:nvSpPr>
          <p:spPr>
            <a:xfrm flipH="false" flipV="false" rot="0">
              <a:off x="0" y="0"/>
              <a:ext cx="233786" cy="1475041"/>
            </a:xfrm>
            <a:custGeom>
              <a:avLst/>
              <a:gdLst/>
              <a:ahLst/>
              <a:cxnLst/>
              <a:rect r="r" b="b" t="t" l="l"/>
              <a:pathLst>
                <a:path h="1475041" w="233786">
                  <a:moveTo>
                    <a:pt x="0" y="0"/>
                  </a:moveTo>
                  <a:lnTo>
                    <a:pt x="233786" y="0"/>
                  </a:lnTo>
                  <a:lnTo>
                    <a:pt x="233786" y="1475041"/>
                  </a:lnTo>
                  <a:lnTo>
                    <a:pt x="0" y="1475041"/>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18" id="18"/>
            <p:cNvSpPr txBox="true"/>
            <p:nvPr/>
          </p:nvSpPr>
          <p:spPr>
            <a:xfrm>
              <a:off x="0" y="-57150"/>
              <a:ext cx="233786" cy="153219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9" id="19"/>
          <p:cNvSpPr/>
          <p:nvPr/>
        </p:nvSpPr>
        <p:spPr>
          <a:xfrm flipH="false" flipV="false" rot="0">
            <a:off x="270978" y="8278083"/>
            <a:ext cx="998819" cy="988830"/>
          </a:xfrm>
          <a:custGeom>
            <a:avLst/>
            <a:gdLst/>
            <a:ahLst/>
            <a:cxnLst/>
            <a:rect r="r" b="b" t="t" l="l"/>
            <a:pathLst>
              <a:path h="988830" w="998819">
                <a:moveTo>
                  <a:pt x="0" y="0"/>
                </a:moveTo>
                <a:lnTo>
                  <a:pt x="998819" y="0"/>
                </a:lnTo>
                <a:lnTo>
                  <a:pt x="998819" y="988831"/>
                </a:lnTo>
                <a:lnTo>
                  <a:pt x="0" y="988831"/>
                </a:lnTo>
                <a:lnTo>
                  <a:pt x="0" y="0"/>
                </a:lnTo>
                <a:close/>
              </a:path>
            </a:pathLst>
          </a:custGeom>
          <a:blipFill>
            <a:blip r:embed="rId6"/>
            <a:stretch>
              <a:fillRect l="0" t="0" r="0" b="0"/>
            </a:stretch>
          </a:blipFill>
        </p:spPr>
      </p:sp>
      <p:sp>
        <p:nvSpPr>
          <p:cNvPr name="Freeform 20" id="20"/>
          <p:cNvSpPr/>
          <p:nvPr/>
        </p:nvSpPr>
        <p:spPr>
          <a:xfrm flipH="false" flipV="false" rot="0">
            <a:off x="2236644" y="485130"/>
            <a:ext cx="2787473" cy="2787473"/>
          </a:xfrm>
          <a:custGeom>
            <a:avLst/>
            <a:gdLst/>
            <a:ahLst/>
            <a:cxnLst/>
            <a:rect r="r" b="b" t="t" l="l"/>
            <a:pathLst>
              <a:path h="2787473" w="2787473">
                <a:moveTo>
                  <a:pt x="0" y="0"/>
                </a:moveTo>
                <a:lnTo>
                  <a:pt x="2787473" y="0"/>
                </a:lnTo>
                <a:lnTo>
                  <a:pt x="2787473" y="2787473"/>
                </a:lnTo>
                <a:lnTo>
                  <a:pt x="0" y="2787473"/>
                </a:lnTo>
                <a:lnTo>
                  <a:pt x="0" y="0"/>
                </a:lnTo>
                <a:close/>
              </a:path>
            </a:pathLst>
          </a:custGeom>
          <a:blipFill>
            <a:blip r:embed="rId7">
              <a:alphaModFix amt="44999"/>
            </a:blip>
            <a:stretch>
              <a:fillRect l="0" t="0" r="0" b="0"/>
            </a:stretch>
          </a:blipFill>
        </p:spPr>
      </p:sp>
      <p:sp>
        <p:nvSpPr>
          <p:cNvPr name="Freeform 21" id="21"/>
          <p:cNvSpPr/>
          <p:nvPr/>
        </p:nvSpPr>
        <p:spPr>
          <a:xfrm flipH="false" flipV="false" rot="0">
            <a:off x="4953811" y="5004084"/>
            <a:ext cx="4591447" cy="4583099"/>
          </a:xfrm>
          <a:custGeom>
            <a:avLst/>
            <a:gdLst/>
            <a:ahLst/>
            <a:cxnLst/>
            <a:rect r="r" b="b" t="t" l="l"/>
            <a:pathLst>
              <a:path h="4583099" w="4591447">
                <a:moveTo>
                  <a:pt x="0" y="0"/>
                </a:moveTo>
                <a:lnTo>
                  <a:pt x="4591448" y="0"/>
                </a:lnTo>
                <a:lnTo>
                  <a:pt x="4591448" y="4583100"/>
                </a:lnTo>
                <a:lnTo>
                  <a:pt x="0" y="4583100"/>
                </a:lnTo>
                <a:lnTo>
                  <a:pt x="0" y="0"/>
                </a:lnTo>
                <a:close/>
              </a:path>
            </a:pathLst>
          </a:custGeom>
          <a:blipFill>
            <a:blip r:embed="rId8"/>
            <a:stretch>
              <a:fillRect l="0" t="0" r="0" b="0"/>
            </a:stretch>
          </a:blipFill>
        </p:spPr>
      </p:sp>
      <p:grpSp>
        <p:nvGrpSpPr>
          <p:cNvPr name="Group 22" id="22"/>
          <p:cNvGrpSpPr/>
          <p:nvPr/>
        </p:nvGrpSpPr>
        <p:grpSpPr>
          <a:xfrm rot="0">
            <a:off x="5269577" y="5332968"/>
            <a:ext cx="3925332" cy="392533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989B"/>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pPr>
            </a:p>
          </p:txBody>
        </p:sp>
      </p:grpSp>
      <p:grpSp>
        <p:nvGrpSpPr>
          <p:cNvPr name="Group 25" id="25"/>
          <p:cNvGrpSpPr/>
          <p:nvPr/>
        </p:nvGrpSpPr>
        <p:grpSpPr>
          <a:xfrm rot="0">
            <a:off x="5505087" y="5568478"/>
            <a:ext cx="3454312" cy="345431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0" t="0" r="0" b="0"/>
              </a:stretch>
            </a:blipFill>
          </p:spPr>
        </p:sp>
      </p:grpSp>
      <p:sp>
        <p:nvSpPr>
          <p:cNvPr name="Freeform 27" id="27"/>
          <p:cNvSpPr/>
          <p:nvPr/>
        </p:nvSpPr>
        <p:spPr>
          <a:xfrm flipH="false" flipV="false" rot="0">
            <a:off x="16480208" y="7861154"/>
            <a:ext cx="779092" cy="787707"/>
          </a:xfrm>
          <a:custGeom>
            <a:avLst/>
            <a:gdLst/>
            <a:ahLst/>
            <a:cxnLst/>
            <a:rect r="r" b="b" t="t" l="l"/>
            <a:pathLst>
              <a:path h="787707" w="779092">
                <a:moveTo>
                  <a:pt x="0" y="0"/>
                </a:moveTo>
                <a:lnTo>
                  <a:pt x="779092" y="0"/>
                </a:lnTo>
                <a:lnTo>
                  <a:pt x="779092" y="787707"/>
                </a:lnTo>
                <a:lnTo>
                  <a:pt x="0" y="787707"/>
                </a:lnTo>
                <a:lnTo>
                  <a:pt x="0" y="0"/>
                </a:lnTo>
                <a:close/>
              </a:path>
            </a:pathLst>
          </a:custGeom>
          <a:blipFill>
            <a:blip r:embed="rId10"/>
            <a:stretch>
              <a:fillRect l="0" t="0" r="0" b="0"/>
            </a:stretch>
          </a:blipFill>
        </p:spPr>
      </p:sp>
      <p:sp>
        <p:nvSpPr>
          <p:cNvPr name="Freeform 28" id="28"/>
          <p:cNvSpPr/>
          <p:nvPr/>
        </p:nvSpPr>
        <p:spPr>
          <a:xfrm flipH="false" flipV="false" rot="0">
            <a:off x="7121645" y="2185983"/>
            <a:ext cx="3495538" cy="221021"/>
          </a:xfrm>
          <a:custGeom>
            <a:avLst/>
            <a:gdLst/>
            <a:ahLst/>
            <a:cxnLst/>
            <a:rect r="r" b="b" t="t" l="l"/>
            <a:pathLst>
              <a:path h="221021" w="3495538">
                <a:moveTo>
                  <a:pt x="0" y="0"/>
                </a:moveTo>
                <a:lnTo>
                  <a:pt x="3495537" y="0"/>
                </a:lnTo>
                <a:lnTo>
                  <a:pt x="3495537" y="221022"/>
                </a:lnTo>
                <a:lnTo>
                  <a:pt x="0" y="221022"/>
                </a:lnTo>
                <a:lnTo>
                  <a:pt x="0" y="0"/>
                </a:lnTo>
                <a:close/>
              </a:path>
            </a:pathLst>
          </a:custGeom>
          <a:blipFill>
            <a:blip r:embed="rId11"/>
            <a:stretch>
              <a:fillRect l="-7611" t="-83281" r="0" b="-101790"/>
            </a:stretch>
          </a:blipFill>
        </p:spPr>
      </p:sp>
      <p:sp>
        <p:nvSpPr>
          <p:cNvPr name="TextBox 29" id="29"/>
          <p:cNvSpPr txBox="true"/>
          <p:nvPr/>
        </p:nvSpPr>
        <p:spPr>
          <a:xfrm rot="0">
            <a:off x="7249535" y="2806296"/>
            <a:ext cx="10009765" cy="1616074"/>
          </a:xfrm>
          <a:prstGeom prst="rect">
            <a:avLst/>
          </a:prstGeom>
        </p:spPr>
        <p:txBody>
          <a:bodyPr anchor="t" rtlCol="false" tIns="0" lIns="0" bIns="0" rIns="0">
            <a:spAutoFit/>
          </a:bodyPr>
          <a:lstStyle/>
          <a:p>
            <a:pPr algn="r" marL="0" indent="0" lvl="0">
              <a:lnSpc>
                <a:spcPts val="11703"/>
              </a:lnSpc>
            </a:pPr>
            <a:r>
              <a:rPr lang="en-US" b="true" sz="10357" spc="-434">
                <a:solidFill>
                  <a:srgbClr val="20989B"/>
                </a:solidFill>
                <a:latin typeface="Poppins Semi-Bold"/>
                <a:ea typeface="Poppins Semi-Bold"/>
                <a:cs typeface="Poppins Semi-Bold"/>
                <a:sym typeface="Poppins Semi-Bold"/>
              </a:rPr>
              <a:t>AI WINE QUALITY</a:t>
            </a:r>
          </a:p>
        </p:txBody>
      </p:sp>
      <p:grpSp>
        <p:nvGrpSpPr>
          <p:cNvPr name="Group 30" id="30"/>
          <p:cNvGrpSpPr/>
          <p:nvPr/>
        </p:nvGrpSpPr>
        <p:grpSpPr>
          <a:xfrm rot="0">
            <a:off x="3275743" y="3488168"/>
            <a:ext cx="4378158" cy="872144"/>
            <a:chOff x="0" y="0"/>
            <a:chExt cx="2040125" cy="406400"/>
          </a:xfrm>
        </p:grpSpPr>
        <p:sp>
          <p:nvSpPr>
            <p:cNvPr name="Freeform 31" id="31"/>
            <p:cNvSpPr/>
            <p:nvPr/>
          </p:nvSpPr>
          <p:spPr>
            <a:xfrm flipH="false" flipV="false" rot="0">
              <a:off x="0" y="0"/>
              <a:ext cx="2040125" cy="406400"/>
            </a:xfrm>
            <a:custGeom>
              <a:avLst/>
              <a:gdLst/>
              <a:ahLst/>
              <a:cxnLst/>
              <a:rect r="r" b="b" t="t" l="l"/>
              <a:pathLst>
                <a:path h="406400" w="2040125">
                  <a:moveTo>
                    <a:pt x="1836925" y="0"/>
                  </a:moveTo>
                  <a:cubicBezTo>
                    <a:pt x="1949150" y="0"/>
                    <a:pt x="2040125" y="90976"/>
                    <a:pt x="2040125" y="203200"/>
                  </a:cubicBezTo>
                  <a:cubicBezTo>
                    <a:pt x="2040125" y="315424"/>
                    <a:pt x="1949150" y="406400"/>
                    <a:pt x="1836925"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32" id="32"/>
            <p:cNvSpPr txBox="true"/>
            <p:nvPr/>
          </p:nvSpPr>
          <p:spPr>
            <a:xfrm>
              <a:off x="0" y="-57150"/>
              <a:ext cx="2040125" cy="463550"/>
            </a:xfrm>
            <a:prstGeom prst="rect">
              <a:avLst/>
            </a:prstGeom>
          </p:spPr>
          <p:txBody>
            <a:bodyPr anchor="ctr" rtlCol="false" tIns="50800" lIns="50800" bIns="50800" rIns="50800"/>
            <a:lstStyle/>
            <a:p>
              <a:pPr algn="ctr" marL="0" indent="0" lvl="0">
                <a:lnSpc>
                  <a:spcPts val="2659"/>
                </a:lnSpc>
              </a:pPr>
            </a:p>
          </p:txBody>
        </p:sp>
      </p:grpSp>
      <p:sp>
        <p:nvSpPr>
          <p:cNvPr name="TextBox 33" id="33"/>
          <p:cNvSpPr txBox="true"/>
          <p:nvPr/>
        </p:nvSpPr>
        <p:spPr>
          <a:xfrm rot="0">
            <a:off x="11532703" y="8278083"/>
            <a:ext cx="2787992" cy="1654095"/>
          </a:xfrm>
          <a:prstGeom prst="rect">
            <a:avLst/>
          </a:prstGeom>
        </p:spPr>
        <p:txBody>
          <a:bodyPr anchor="t" rtlCol="false" tIns="0" lIns="0" bIns="0" rIns="0">
            <a:spAutoFit/>
          </a:bodyPr>
          <a:lstStyle/>
          <a:p>
            <a:pPr algn="just">
              <a:lnSpc>
                <a:spcPts val="2644"/>
              </a:lnSpc>
            </a:pPr>
            <a:r>
              <a:rPr lang="en-US" sz="2319" b="true">
                <a:solidFill>
                  <a:srgbClr val="000000"/>
                </a:solidFill>
                <a:latin typeface="Poppins Bold"/>
                <a:ea typeface="Poppins Bold"/>
                <a:cs typeface="Poppins Bold"/>
                <a:sym typeface="Poppins Bold"/>
              </a:rPr>
              <a:t>Kunal Verma</a:t>
            </a:r>
          </a:p>
          <a:p>
            <a:pPr algn="just">
              <a:lnSpc>
                <a:spcPts val="2644"/>
              </a:lnSpc>
            </a:pPr>
            <a:r>
              <a:rPr lang="en-US" sz="2319" b="true">
                <a:solidFill>
                  <a:srgbClr val="000000"/>
                </a:solidFill>
                <a:latin typeface="Poppins Bold"/>
                <a:ea typeface="Poppins Bold"/>
                <a:cs typeface="Poppins Bold"/>
                <a:sym typeface="Poppins Bold"/>
              </a:rPr>
              <a:t>Shivam Prasad </a:t>
            </a:r>
          </a:p>
          <a:p>
            <a:pPr algn="just">
              <a:lnSpc>
                <a:spcPts val="2644"/>
              </a:lnSpc>
            </a:pPr>
            <a:r>
              <a:rPr lang="en-US" sz="2319" b="true">
                <a:solidFill>
                  <a:srgbClr val="000000"/>
                </a:solidFill>
                <a:latin typeface="Poppins Bold"/>
                <a:ea typeface="Poppins Bold"/>
                <a:cs typeface="Poppins Bold"/>
                <a:sym typeface="Poppins Bold"/>
              </a:rPr>
              <a:t>Daksh Khatri</a:t>
            </a:r>
          </a:p>
          <a:p>
            <a:pPr algn="just">
              <a:lnSpc>
                <a:spcPts val="2644"/>
              </a:lnSpc>
            </a:pPr>
            <a:r>
              <a:rPr lang="en-US" sz="2319" b="true">
                <a:solidFill>
                  <a:srgbClr val="000000"/>
                </a:solidFill>
                <a:latin typeface="Poppins Bold"/>
                <a:ea typeface="Poppins Bold"/>
                <a:cs typeface="Poppins Bold"/>
                <a:sym typeface="Poppins Bold"/>
              </a:rPr>
              <a:t>Lovenish Sharma</a:t>
            </a:r>
          </a:p>
          <a:p>
            <a:pPr algn="just" marL="0" indent="0" lvl="0">
              <a:lnSpc>
                <a:spcPts val="2644"/>
              </a:lnSpc>
            </a:pPr>
            <a:r>
              <a:rPr lang="en-US" b="true" sz="2319">
                <a:solidFill>
                  <a:srgbClr val="000000"/>
                </a:solidFill>
                <a:latin typeface="Poppins Bold"/>
                <a:ea typeface="Poppins Bold"/>
                <a:cs typeface="Poppins Bold"/>
                <a:sym typeface="Poppins Bold"/>
              </a:rPr>
              <a:t>Akshit Sharma</a:t>
            </a:r>
          </a:p>
        </p:txBody>
      </p:sp>
      <p:sp>
        <p:nvSpPr>
          <p:cNvPr name="TextBox 34" id="34"/>
          <p:cNvSpPr txBox="true"/>
          <p:nvPr/>
        </p:nvSpPr>
        <p:spPr>
          <a:xfrm rot="0">
            <a:off x="12614925" y="1053866"/>
            <a:ext cx="3667886" cy="725831"/>
          </a:xfrm>
          <a:prstGeom prst="rect">
            <a:avLst/>
          </a:prstGeom>
        </p:spPr>
        <p:txBody>
          <a:bodyPr anchor="t" rtlCol="false" tIns="0" lIns="0" bIns="0" rIns="0">
            <a:spAutoFit/>
          </a:bodyPr>
          <a:lstStyle/>
          <a:p>
            <a:pPr algn="r" marL="0" indent="0" lvl="0">
              <a:lnSpc>
                <a:spcPts val="2781"/>
              </a:lnSpc>
            </a:pPr>
            <a:r>
              <a:rPr lang="en-US" sz="2439">
                <a:solidFill>
                  <a:srgbClr val="000000"/>
                </a:solidFill>
                <a:latin typeface="Poppins"/>
                <a:ea typeface="Poppins"/>
                <a:cs typeface="Poppins"/>
                <a:sym typeface="Poppins"/>
              </a:rPr>
              <a:t>Machine Learning Project</a:t>
            </a:r>
          </a:p>
        </p:txBody>
      </p:sp>
      <p:sp>
        <p:nvSpPr>
          <p:cNvPr name="TextBox 35" id="35"/>
          <p:cNvSpPr txBox="true"/>
          <p:nvPr/>
        </p:nvSpPr>
        <p:spPr>
          <a:xfrm rot="0">
            <a:off x="12614925" y="7861419"/>
            <a:ext cx="3689658" cy="379156"/>
          </a:xfrm>
          <a:prstGeom prst="rect">
            <a:avLst/>
          </a:prstGeom>
        </p:spPr>
        <p:txBody>
          <a:bodyPr anchor="t" rtlCol="false" tIns="0" lIns="0" bIns="0" rIns="0">
            <a:spAutoFit/>
          </a:bodyPr>
          <a:lstStyle/>
          <a:p>
            <a:pPr algn="r" marL="0" indent="0" lvl="0">
              <a:lnSpc>
                <a:spcPts val="2798"/>
              </a:lnSpc>
            </a:pPr>
            <a:r>
              <a:rPr lang="en-US" sz="2454">
                <a:solidFill>
                  <a:srgbClr val="000000"/>
                </a:solidFill>
                <a:latin typeface="Poppins"/>
                <a:ea typeface="Poppins"/>
                <a:cs typeface="Poppins"/>
                <a:sym typeface="Poppins"/>
              </a:rPr>
              <a:t>Presenter</a:t>
            </a:r>
          </a:p>
        </p:txBody>
      </p:sp>
      <p:sp>
        <p:nvSpPr>
          <p:cNvPr name="TextBox 36" id="36"/>
          <p:cNvSpPr txBox="true"/>
          <p:nvPr/>
        </p:nvSpPr>
        <p:spPr>
          <a:xfrm rot="0">
            <a:off x="9918755" y="4464600"/>
            <a:ext cx="7340545" cy="1616074"/>
          </a:xfrm>
          <a:prstGeom prst="rect">
            <a:avLst/>
          </a:prstGeom>
        </p:spPr>
        <p:txBody>
          <a:bodyPr anchor="t" rtlCol="false" tIns="0" lIns="0" bIns="0" rIns="0">
            <a:spAutoFit/>
          </a:bodyPr>
          <a:lstStyle/>
          <a:p>
            <a:pPr algn="r" marL="0" indent="0" lvl="0">
              <a:lnSpc>
                <a:spcPts val="11703"/>
              </a:lnSpc>
            </a:pPr>
            <a:r>
              <a:rPr lang="en-US" b="true" sz="10357" spc="-434">
                <a:solidFill>
                  <a:srgbClr val="39515A"/>
                </a:solidFill>
                <a:latin typeface="Poppins Semi-Bold"/>
                <a:ea typeface="Poppins Semi-Bold"/>
                <a:cs typeface="Poppins Semi-Bold"/>
                <a:sym typeface="Poppins Semi-Bold"/>
              </a:rPr>
              <a:t>PREDICTOR</a:t>
            </a:r>
          </a:p>
        </p:txBody>
      </p:sp>
      <p:sp>
        <p:nvSpPr>
          <p:cNvPr name="TextBox 37" id="37"/>
          <p:cNvSpPr txBox="true"/>
          <p:nvPr/>
        </p:nvSpPr>
        <p:spPr>
          <a:xfrm rot="0">
            <a:off x="3680108" y="3590546"/>
            <a:ext cx="3569427" cy="668203"/>
          </a:xfrm>
          <a:prstGeom prst="rect">
            <a:avLst/>
          </a:prstGeom>
        </p:spPr>
        <p:txBody>
          <a:bodyPr anchor="t" rtlCol="false" tIns="0" lIns="0" bIns="0" rIns="0">
            <a:spAutoFit/>
          </a:bodyPr>
          <a:lstStyle/>
          <a:p>
            <a:pPr algn="ctr" marL="0" indent="0" lvl="0">
              <a:lnSpc>
                <a:spcPts val="2606"/>
              </a:lnSpc>
            </a:pPr>
            <a:r>
              <a:rPr lang="en-US" b="true" sz="2306" spc="-96">
                <a:solidFill>
                  <a:srgbClr val="FFFFFF"/>
                </a:solidFill>
                <a:latin typeface="Poppins Bold"/>
                <a:ea typeface="Poppins Bold"/>
                <a:cs typeface="Poppins Bold"/>
                <a:sym typeface="Poppins Bold"/>
              </a:rPr>
              <a:t>A FULL-STACK ML APPLICATION</a:t>
            </a:r>
          </a:p>
        </p:txBody>
      </p:sp>
      <p:sp>
        <p:nvSpPr>
          <p:cNvPr name="TextBox 38" id="38"/>
          <p:cNvSpPr txBox="true"/>
          <p:nvPr/>
        </p:nvSpPr>
        <p:spPr>
          <a:xfrm rot="0">
            <a:off x="14320695" y="8305433"/>
            <a:ext cx="1983888" cy="1654095"/>
          </a:xfrm>
          <a:prstGeom prst="rect">
            <a:avLst/>
          </a:prstGeom>
        </p:spPr>
        <p:txBody>
          <a:bodyPr anchor="t" rtlCol="false" tIns="0" lIns="0" bIns="0" rIns="0">
            <a:spAutoFit/>
          </a:bodyPr>
          <a:lstStyle/>
          <a:p>
            <a:pPr algn="just">
              <a:lnSpc>
                <a:spcPts val="2644"/>
              </a:lnSpc>
            </a:pPr>
            <a:r>
              <a:rPr lang="en-US" sz="2319">
                <a:solidFill>
                  <a:srgbClr val="000000"/>
                </a:solidFill>
                <a:latin typeface="Poppins"/>
                <a:ea typeface="Poppins"/>
                <a:cs typeface="Poppins"/>
                <a:sym typeface="Poppins"/>
              </a:rPr>
              <a:t>[25BAI70432]</a:t>
            </a:r>
          </a:p>
          <a:p>
            <a:pPr algn="just">
              <a:lnSpc>
                <a:spcPts val="2644"/>
              </a:lnSpc>
            </a:pPr>
            <a:r>
              <a:rPr lang="en-US" sz="2319">
                <a:solidFill>
                  <a:srgbClr val="000000"/>
                </a:solidFill>
                <a:latin typeface="Poppins"/>
                <a:ea typeface="Poppins"/>
                <a:cs typeface="Poppins"/>
                <a:sym typeface="Poppins"/>
              </a:rPr>
              <a:t>[25BAI70897]</a:t>
            </a:r>
          </a:p>
          <a:p>
            <a:pPr algn="just">
              <a:lnSpc>
                <a:spcPts val="2644"/>
              </a:lnSpc>
            </a:pPr>
            <a:r>
              <a:rPr lang="en-US" sz="2319">
                <a:solidFill>
                  <a:srgbClr val="000000"/>
                </a:solidFill>
                <a:latin typeface="Poppins"/>
                <a:ea typeface="Poppins"/>
                <a:cs typeface="Poppins"/>
                <a:sym typeface="Poppins"/>
              </a:rPr>
              <a:t>[25BAI70806]</a:t>
            </a:r>
          </a:p>
          <a:p>
            <a:pPr algn="just">
              <a:lnSpc>
                <a:spcPts val="2644"/>
              </a:lnSpc>
            </a:pPr>
            <a:r>
              <a:rPr lang="en-US" sz="2319">
                <a:solidFill>
                  <a:srgbClr val="000000"/>
                </a:solidFill>
                <a:latin typeface="Poppins"/>
                <a:ea typeface="Poppins"/>
                <a:cs typeface="Poppins"/>
                <a:sym typeface="Poppins"/>
              </a:rPr>
              <a:t>[25BAI70632]</a:t>
            </a:r>
          </a:p>
          <a:p>
            <a:pPr algn="just" marL="0" indent="0" lvl="0">
              <a:lnSpc>
                <a:spcPts val="2644"/>
              </a:lnSpc>
            </a:pPr>
            <a:r>
              <a:rPr lang="en-US" sz="2319">
                <a:solidFill>
                  <a:srgbClr val="000000"/>
                </a:solidFill>
                <a:latin typeface="Poppins"/>
                <a:ea typeface="Poppins"/>
                <a:cs typeface="Poppins"/>
                <a:sym typeface="Poppins"/>
              </a:rPr>
              <a:t>[25BAI70679]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13883" y="4995440"/>
            <a:ext cx="26521839" cy="5271215"/>
          </a:xfrm>
          <a:custGeom>
            <a:avLst/>
            <a:gdLst/>
            <a:ahLst/>
            <a:cxnLst/>
            <a:rect r="r" b="b" t="t" l="l"/>
            <a:pathLst>
              <a:path h="5271215" w="26521839">
                <a:moveTo>
                  <a:pt x="0" y="0"/>
                </a:moveTo>
                <a:lnTo>
                  <a:pt x="26521839" y="0"/>
                </a:lnTo>
                <a:lnTo>
                  <a:pt x="26521839" y="5271216"/>
                </a:lnTo>
                <a:lnTo>
                  <a:pt x="0" y="5271216"/>
                </a:lnTo>
                <a:lnTo>
                  <a:pt x="0" y="0"/>
                </a:lnTo>
                <a:close/>
              </a:path>
            </a:pathLst>
          </a:custGeom>
          <a:blipFill>
            <a:blip r:embed="rId2">
              <a:alphaModFix amt="6000"/>
            </a:blip>
            <a:stretch>
              <a:fillRect l="0" t="0" r="0" b="0"/>
            </a:stretch>
          </a:blipFill>
        </p:spPr>
      </p:sp>
      <p:grpSp>
        <p:nvGrpSpPr>
          <p:cNvPr name="Group 3" id="3"/>
          <p:cNvGrpSpPr/>
          <p:nvPr/>
        </p:nvGrpSpPr>
        <p:grpSpPr>
          <a:xfrm rot="-862888">
            <a:off x="13988464" y="-3745921"/>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true" rot="-6270710">
            <a:off x="10806077" y="4649456"/>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3"/>
            <a:stretch>
              <a:fillRect l="0" t="-1843398" r="0" b="0"/>
            </a:stretch>
          </a:blipFill>
        </p:spPr>
      </p:sp>
      <p:grpSp>
        <p:nvGrpSpPr>
          <p:cNvPr name="Group 7" id="7"/>
          <p:cNvGrpSpPr/>
          <p:nvPr/>
        </p:nvGrpSpPr>
        <p:grpSpPr>
          <a:xfrm rot="-862888">
            <a:off x="17439238" y="-3745921"/>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852149">
            <a:off x="12852248" y="-1835184"/>
            <a:ext cx="887655" cy="5727768"/>
            <a:chOff x="0" y="0"/>
            <a:chExt cx="233786" cy="1508548"/>
          </a:xfrm>
        </p:grpSpPr>
        <p:sp>
          <p:nvSpPr>
            <p:cNvPr name="Freeform 11" id="11"/>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2" id="12"/>
            <p:cNvSpPr txBox="true"/>
            <p:nvPr/>
          </p:nvSpPr>
          <p:spPr>
            <a:xfrm>
              <a:off x="0" y="-57150"/>
              <a:ext cx="233786" cy="15656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28700" y="2861633"/>
            <a:ext cx="9770956" cy="1598971"/>
          </a:xfrm>
          <a:prstGeom prst="rect">
            <a:avLst/>
          </a:prstGeom>
        </p:spPr>
        <p:txBody>
          <a:bodyPr anchor="t" rtlCol="false" tIns="0" lIns="0" bIns="0" rIns="0">
            <a:spAutoFit/>
          </a:bodyPr>
          <a:lstStyle/>
          <a:p>
            <a:pPr algn="l" marL="0" indent="0" lvl="0">
              <a:lnSpc>
                <a:spcPts val="3217"/>
              </a:lnSpc>
              <a:spcBef>
                <a:spcPct val="0"/>
              </a:spcBef>
            </a:pPr>
            <a:r>
              <a:rPr lang="en-US" sz="2298">
                <a:solidFill>
                  <a:srgbClr val="000000"/>
                </a:solidFill>
                <a:latin typeface="Poppins"/>
                <a:ea typeface="Poppins"/>
                <a:cs typeface="Poppins"/>
                <a:sym typeface="Poppins"/>
              </a:rPr>
              <a:t>Traditional machine learning projects often remain trapped in Jupyter notebooks—impressive in isolation but disconnected from real-world applications. Wine quality prediction models exist, but they lack the usability needed for practical deployment.</a:t>
            </a:r>
          </a:p>
        </p:txBody>
      </p:sp>
      <p:sp>
        <p:nvSpPr>
          <p:cNvPr name="TextBox 14" id="14"/>
          <p:cNvSpPr txBox="true"/>
          <p:nvPr/>
        </p:nvSpPr>
        <p:spPr>
          <a:xfrm rot="0">
            <a:off x="1028700" y="5993935"/>
            <a:ext cx="9770956" cy="1999021"/>
          </a:xfrm>
          <a:prstGeom prst="rect">
            <a:avLst/>
          </a:prstGeom>
        </p:spPr>
        <p:txBody>
          <a:bodyPr anchor="t" rtlCol="false" tIns="0" lIns="0" bIns="0" rIns="0">
            <a:spAutoFit/>
          </a:bodyPr>
          <a:lstStyle/>
          <a:p>
            <a:pPr algn="l" marL="0" indent="0" lvl="0">
              <a:lnSpc>
                <a:spcPts val="3217"/>
              </a:lnSpc>
              <a:spcBef>
                <a:spcPct val="0"/>
              </a:spcBef>
            </a:pPr>
            <a:r>
              <a:rPr lang="en-US" sz="2298">
                <a:solidFill>
                  <a:srgbClr val="000000"/>
                </a:solidFill>
                <a:latin typeface="Poppins"/>
                <a:ea typeface="Poppins"/>
                <a:cs typeface="Poppins"/>
                <a:sym typeface="Poppins"/>
              </a:rPr>
              <a:t>How do we bridge the gap between ML research and production-ready systems? </a:t>
            </a:r>
          </a:p>
          <a:p>
            <a:pPr algn="l" marL="0" indent="0" lvl="0">
              <a:lnSpc>
                <a:spcPts val="3217"/>
              </a:lnSpc>
              <a:spcBef>
                <a:spcPct val="0"/>
              </a:spcBef>
            </a:pPr>
            <a:r>
              <a:rPr lang="en-US" sz="2298">
                <a:solidFill>
                  <a:srgbClr val="000000"/>
                </a:solidFill>
                <a:latin typeface="Poppins"/>
                <a:ea typeface="Poppins"/>
                <a:cs typeface="Poppins"/>
                <a:sym typeface="Poppins"/>
              </a:rPr>
              <a:t>Users need intuitive interfaces, not code cells. Businesses need reliable predictions, not experimental notebooks. The industry demands full-stack MLOps solutions.</a:t>
            </a:r>
          </a:p>
        </p:txBody>
      </p:sp>
      <p:sp>
        <p:nvSpPr>
          <p:cNvPr name="TextBox 15" id="15"/>
          <p:cNvSpPr txBox="true"/>
          <p:nvPr/>
        </p:nvSpPr>
        <p:spPr>
          <a:xfrm rot="0">
            <a:off x="1028700" y="1457834"/>
            <a:ext cx="8890055" cy="1152478"/>
          </a:xfrm>
          <a:prstGeom prst="rect">
            <a:avLst/>
          </a:prstGeom>
        </p:spPr>
        <p:txBody>
          <a:bodyPr anchor="t" rtlCol="false" tIns="0" lIns="0" bIns="0" rIns="0">
            <a:spAutoFit/>
          </a:bodyPr>
          <a:lstStyle/>
          <a:p>
            <a:pPr algn="l" marL="0" indent="0" lvl="0">
              <a:lnSpc>
                <a:spcPts val="8469"/>
              </a:lnSpc>
            </a:pPr>
            <a:r>
              <a:rPr lang="en-US" b="true" sz="7494" spc="-314">
                <a:solidFill>
                  <a:srgbClr val="39515A"/>
                </a:solidFill>
                <a:latin typeface="Poppins Semi-Bold"/>
                <a:ea typeface="Poppins Semi-Bold"/>
                <a:cs typeface="Poppins Semi-Bold"/>
                <a:sym typeface="Poppins Semi-Bold"/>
              </a:rPr>
              <a:t>Problem Statement</a:t>
            </a:r>
          </a:p>
        </p:txBody>
      </p:sp>
      <p:sp>
        <p:nvSpPr>
          <p:cNvPr name="Freeform 16" id="16"/>
          <p:cNvSpPr/>
          <p:nvPr/>
        </p:nvSpPr>
        <p:spPr>
          <a:xfrm flipH="false" flipV="false" rot="0">
            <a:off x="10392601" y="1476884"/>
            <a:ext cx="8463169" cy="8447782"/>
          </a:xfrm>
          <a:custGeom>
            <a:avLst/>
            <a:gdLst/>
            <a:ahLst/>
            <a:cxnLst/>
            <a:rect r="r" b="b" t="t" l="l"/>
            <a:pathLst>
              <a:path h="8447782" w="8463169">
                <a:moveTo>
                  <a:pt x="0" y="0"/>
                </a:moveTo>
                <a:lnTo>
                  <a:pt x="8463169" y="0"/>
                </a:lnTo>
                <a:lnTo>
                  <a:pt x="8463169" y="8447781"/>
                </a:lnTo>
                <a:lnTo>
                  <a:pt x="0" y="8447781"/>
                </a:lnTo>
                <a:lnTo>
                  <a:pt x="0" y="0"/>
                </a:lnTo>
                <a:close/>
              </a:path>
            </a:pathLst>
          </a:custGeom>
          <a:blipFill>
            <a:blip r:embed="rId4"/>
            <a:stretch>
              <a:fillRect l="0" t="0" r="0" b="0"/>
            </a:stretch>
          </a:blipFill>
        </p:spPr>
      </p:sp>
      <p:grpSp>
        <p:nvGrpSpPr>
          <p:cNvPr name="Group 17" id="17"/>
          <p:cNvGrpSpPr/>
          <p:nvPr/>
        </p:nvGrpSpPr>
        <p:grpSpPr>
          <a:xfrm rot="0">
            <a:off x="10974635" y="2083097"/>
            <a:ext cx="7235354" cy="723535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989B"/>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11408738" y="2517200"/>
            <a:ext cx="6367148" cy="636714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0"/>
              </a:stretch>
            </a:blipFill>
          </p:spPr>
        </p:sp>
      </p:grpSp>
      <p:grpSp>
        <p:nvGrpSpPr>
          <p:cNvPr name="Group 22" id="22"/>
          <p:cNvGrpSpPr/>
          <p:nvPr/>
        </p:nvGrpSpPr>
        <p:grpSpPr>
          <a:xfrm rot="0">
            <a:off x="-2733228" y="4843172"/>
            <a:ext cx="8460671" cy="825303"/>
            <a:chOff x="0" y="0"/>
            <a:chExt cx="4166246" cy="406400"/>
          </a:xfrm>
        </p:grpSpPr>
        <p:sp>
          <p:nvSpPr>
            <p:cNvPr name="Freeform 23" id="23"/>
            <p:cNvSpPr/>
            <p:nvPr/>
          </p:nvSpPr>
          <p:spPr>
            <a:xfrm flipH="false" flipV="false" rot="0">
              <a:off x="0" y="0"/>
              <a:ext cx="4166246" cy="406400"/>
            </a:xfrm>
            <a:custGeom>
              <a:avLst/>
              <a:gdLst/>
              <a:ahLst/>
              <a:cxnLst/>
              <a:rect r="r" b="b" t="t" l="l"/>
              <a:pathLst>
                <a:path h="406400" w="4166246">
                  <a:moveTo>
                    <a:pt x="3963046" y="0"/>
                  </a:moveTo>
                  <a:cubicBezTo>
                    <a:pt x="4075270" y="0"/>
                    <a:pt x="4166246" y="90976"/>
                    <a:pt x="4166246" y="203200"/>
                  </a:cubicBezTo>
                  <a:cubicBezTo>
                    <a:pt x="4166246" y="315424"/>
                    <a:pt x="4075270" y="406400"/>
                    <a:pt x="3963046"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4" id="24"/>
            <p:cNvSpPr txBox="true"/>
            <p:nvPr/>
          </p:nvSpPr>
          <p:spPr>
            <a:xfrm>
              <a:off x="0" y="-57150"/>
              <a:ext cx="4166246" cy="463550"/>
            </a:xfrm>
            <a:prstGeom prst="rect">
              <a:avLst/>
            </a:prstGeom>
          </p:spPr>
          <p:txBody>
            <a:bodyPr anchor="ctr" rtlCol="false" tIns="50800" lIns="50800" bIns="50800" rIns="50800"/>
            <a:lstStyle/>
            <a:p>
              <a:pPr algn="ctr" marL="0" indent="0" lvl="0">
                <a:lnSpc>
                  <a:spcPts val="2659"/>
                </a:lnSpc>
              </a:pPr>
            </a:p>
          </p:txBody>
        </p:sp>
      </p:grpSp>
      <p:sp>
        <p:nvSpPr>
          <p:cNvPr name="TextBox 25" id="25"/>
          <p:cNvSpPr txBox="true"/>
          <p:nvPr/>
        </p:nvSpPr>
        <p:spPr>
          <a:xfrm rot="0">
            <a:off x="1028700" y="4933244"/>
            <a:ext cx="4255740" cy="626085"/>
          </a:xfrm>
          <a:prstGeom prst="rect">
            <a:avLst/>
          </a:prstGeom>
        </p:spPr>
        <p:txBody>
          <a:bodyPr anchor="t" rtlCol="false" tIns="0" lIns="0" bIns="0" rIns="0">
            <a:spAutoFit/>
          </a:bodyPr>
          <a:lstStyle/>
          <a:p>
            <a:pPr algn="l" marL="0" indent="0" lvl="0">
              <a:lnSpc>
                <a:spcPts val="4516"/>
              </a:lnSpc>
            </a:pPr>
            <a:r>
              <a:rPr lang="en-US" b="true" sz="3997" spc="-167">
                <a:solidFill>
                  <a:srgbClr val="FFFFFF"/>
                </a:solidFill>
                <a:latin typeface="Poppins Semi-Bold"/>
                <a:ea typeface="Poppins Semi-Bold"/>
                <a:cs typeface="Poppins Semi-Bold"/>
                <a:sym typeface="Poppins Semi-Bold"/>
              </a:rPr>
              <a:t>The Challenge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245581" y="5143500"/>
            <a:ext cx="30876025" cy="6599750"/>
          </a:xfrm>
          <a:custGeom>
            <a:avLst/>
            <a:gdLst/>
            <a:ahLst/>
            <a:cxnLst/>
            <a:rect r="r" b="b" t="t" l="l"/>
            <a:pathLst>
              <a:path h="6599750" w="30876025">
                <a:moveTo>
                  <a:pt x="0" y="0"/>
                </a:moveTo>
                <a:lnTo>
                  <a:pt x="30876026" y="0"/>
                </a:lnTo>
                <a:lnTo>
                  <a:pt x="30876026" y="6599750"/>
                </a:lnTo>
                <a:lnTo>
                  <a:pt x="0" y="6599750"/>
                </a:lnTo>
                <a:lnTo>
                  <a:pt x="0" y="0"/>
                </a:lnTo>
                <a:close/>
              </a:path>
            </a:pathLst>
          </a:custGeom>
          <a:blipFill>
            <a:blip r:embed="rId2">
              <a:alphaModFix amt="6000"/>
            </a:blip>
            <a:stretch>
              <a:fillRect l="0" t="0" r="0" b="0"/>
            </a:stretch>
          </a:blipFill>
        </p:spPr>
      </p:sp>
      <p:grpSp>
        <p:nvGrpSpPr>
          <p:cNvPr name="Group 3" id="3"/>
          <p:cNvGrpSpPr/>
          <p:nvPr/>
        </p:nvGrpSpPr>
        <p:grpSpPr>
          <a:xfrm rot="-862888">
            <a:off x="11744058" y="-3745921"/>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true" rot="-6270710">
            <a:off x="8940246" y="4649456"/>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3"/>
            <a:stretch>
              <a:fillRect l="0" t="-1843398" r="0" b="0"/>
            </a:stretch>
          </a:blipFill>
        </p:spPr>
      </p:sp>
      <p:grpSp>
        <p:nvGrpSpPr>
          <p:cNvPr name="Group 7" id="7"/>
          <p:cNvGrpSpPr/>
          <p:nvPr/>
        </p:nvGrpSpPr>
        <p:grpSpPr>
          <a:xfrm rot="-862888">
            <a:off x="15573406" y="-3745921"/>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1492143" y="1476884"/>
            <a:ext cx="6044346" cy="7333233"/>
            <a:chOff x="0" y="0"/>
            <a:chExt cx="5188077" cy="6294374"/>
          </a:xfrm>
        </p:grpSpPr>
        <p:sp>
          <p:nvSpPr>
            <p:cNvPr name="Freeform 11" id="11"/>
            <p:cNvSpPr/>
            <p:nvPr/>
          </p:nvSpPr>
          <p:spPr>
            <a:xfrm flipH="false" flipV="false" rot="0">
              <a:off x="40" y="0"/>
              <a:ext cx="5188037" cy="6294418"/>
            </a:xfrm>
            <a:custGeom>
              <a:avLst/>
              <a:gdLst/>
              <a:ahLst/>
              <a:cxnLst/>
              <a:rect r="r" b="b" t="t" l="l"/>
              <a:pathLst>
                <a:path h="6294418" w="5188037">
                  <a:moveTo>
                    <a:pt x="4895937" y="0"/>
                  </a:moveTo>
                  <a:cubicBezTo>
                    <a:pt x="5056592" y="0"/>
                    <a:pt x="5188037" y="131445"/>
                    <a:pt x="5188037" y="292100"/>
                  </a:cubicBezTo>
                  <a:lnTo>
                    <a:pt x="5188037" y="6057900"/>
                  </a:lnTo>
                  <a:cubicBezTo>
                    <a:pt x="5188037" y="6218555"/>
                    <a:pt x="5059640" y="6322060"/>
                    <a:pt x="4902668" y="6287897"/>
                  </a:cubicBezTo>
                  <a:lnTo>
                    <a:pt x="1565743" y="5561457"/>
                  </a:lnTo>
                  <a:cubicBezTo>
                    <a:pt x="1408771" y="5527294"/>
                    <a:pt x="1249132" y="5371592"/>
                    <a:pt x="1211159" y="5215509"/>
                  </a:cubicBezTo>
                  <a:lnTo>
                    <a:pt x="8088" y="283718"/>
                  </a:lnTo>
                  <a:cubicBezTo>
                    <a:pt x="-30012" y="127762"/>
                    <a:pt x="70191" y="0"/>
                    <a:pt x="230846" y="0"/>
                  </a:cubicBezTo>
                  <a:lnTo>
                    <a:pt x="4895937" y="0"/>
                  </a:lnTo>
                  <a:close/>
                </a:path>
              </a:pathLst>
            </a:custGeom>
            <a:blipFill>
              <a:blip r:embed="rId4"/>
              <a:stretch>
                <a:fillRect l="0" t="-956" r="0" b="-956"/>
              </a:stretch>
            </a:blipFill>
            <a:ln w="114300" cap="sq">
              <a:solidFill>
                <a:srgbClr val="FFFFFF"/>
              </a:solidFill>
              <a:prstDash val="solid"/>
              <a:miter/>
            </a:ln>
          </p:spPr>
        </p:sp>
      </p:grpSp>
      <p:sp>
        <p:nvSpPr>
          <p:cNvPr name="Freeform 12" id="12"/>
          <p:cNvSpPr/>
          <p:nvPr/>
        </p:nvSpPr>
        <p:spPr>
          <a:xfrm flipH="false" flipV="false" rot="0">
            <a:off x="14089602" y="7706501"/>
            <a:ext cx="1868083" cy="1435235"/>
          </a:xfrm>
          <a:custGeom>
            <a:avLst/>
            <a:gdLst/>
            <a:ahLst/>
            <a:cxnLst/>
            <a:rect r="r" b="b" t="t" l="l"/>
            <a:pathLst>
              <a:path h="1435235" w="1868083">
                <a:moveTo>
                  <a:pt x="0" y="0"/>
                </a:moveTo>
                <a:lnTo>
                  <a:pt x="1868084" y="0"/>
                </a:lnTo>
                <a:lnTo>
                  <a:pt x="1868084" y="1435234"/>
                </a:lnTo>
                <a:lnTo>
                  <a:pt x="0" y="1435234"/>
                </a:lnTo>
                <a:lnTo>
                  <a:pt x="0" y="0"/>
                </a:lnTo>
                <a:close/>
              </a:path>
            </a:pathLst>
          </a:custGeom>
          <a:blipFill>
            <a:blip r:embed="rId5"/>
            <a:stretch>
              <a:fillRect l="0" t="0" r="0" b="0"/>
            </a:stretch>
          </a:blipFill>
        </p:spPr>
      </p:sp>
      <p:grpSp>
        <p:nvGrpSpPr>
          <p:cNvPr name="Group 13" id="13"/>
          <p:cNvGrpSpPr/>
          <p:nvPr/>
        </p:nvGrpSpPr>
        <p:grpSpPr>
          <a:xfrm rot="-852149">
            <a:off x="10825427" y="-2621844"/>
            <a:ext cx="887655" cy="8696949"/>
            <a:chOff x="0" y="0"/>
            <a:chExt cx="233786" cy="2290554"/>
          </a:xfrm>
        </p:grpSpPr>
        <p:sp>
          <p:nvSpPr>
            <p:cNvPr name="Freeform 14" id="14"/>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5" id="15"/>
            <p:cNvSpPr txBox="true"/>
            <p:nvPr/>
          </p:nvSpPr>
          <p:spPr>
            <a:xfrm>
              <a:off x="0" y="-57150"/>
              <a:ext cx="233786" cy="23477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852149">
            <a:off x="12777214" y="7288478"/>
            <a:ext cx="887655" cy="3836978"/>
            <a:chOff x="0" y="0"/>
            <a:chExt cx="233786" cy="1010562"/>
          </a:xfrm>
        </p:grpSpPr>
        <p:sp>
          <p:nvSpPr>
            <p:cNvPr name="Freeform 17" id="17"/>
            <p:cNvSpPr/>
            <p:nvPr/>
          </p:nvSpPr>
          <p:spPr>
            <a:xfrm flipH="false" flipV="false" rot="0">
              <a:off x="0" y="0"/>
              <a:ext cx="233786" cy="1010562"/>
            </a:xfrm>
            <a:custGeom>
              <a:avLst/>
              <a:gdLst/>
              <a:ahLst/>
              <a:cxnLst/>
              <a:rect r="r" b="b" t="t" l="l"/>
              <a:pathLst>
                <a:path h="1010562" w="233786">
                  <a:moveTo>
                    <a:pt x="0" y="0"/>
                  </a:moveTo>
                  <a:lnTo>
                    <a:pt x="233786" y="0"/>
                  </a:lnTo>
                  <a:lnTo>
                    <a:pt x="233786" y="1010562"/>
                  </a:lnTo>
                  <a:lnTo>
                    <a:pt x="0" y="1010562"/>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18" id="18"/>
            <p:cNvSpPr txBox="true"/>
            <p:nvPr/>
          </p:nvSpPr>
          <p:spPr>
            <a:xfrm>
              <a:off x="0" y="-57150"/>
              <a:ext cx="233786" cy="106771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3279005" y="5294418"/>
            <a:ext cx="9100816" cy="1935846"/>
            <a:chOff x="0" y="0"/>
            <a:chExt cx="1910571" cy="406400"/>
          </a:xfrm>
        </p:grpSpPr>
        <p:sp>
          <p:nvSpPr>
            <p:cNvPr name="Freeform 20" id="20"/>
            <p:cNvSpPr/>
            <p:nvPr/>
          </p:nvSpPr>
          <p:spPr>
            <a:xfrm flipH="false" flipV="false" rot="0">
              <a:off x="0" y="0"/>
              <a:ext cx="1910571" cy="406400"/>
            </a:xfrm>
            <a:custGeom>
              <a:avLst/>
              <a:gdLst/>
              <a:ahLst/>
              <a:cxnLst/>
              <a:rect r="r" b="b" t="t" l="l"/>
              <a:pathLst>
                <a:path h="406400" w="1910571">
                  <a:moveTo>
                    <a:pt x="1707371" y="0"/>
                  </a:moveTo>
                  <a:cubicBezTo>
                    <a:pt x="1819596" y="0"/>
                    <a:pt x="1910571" y="90976"/>
                    <a:pt x="1910571" y="203200"/>
                  </a:cubicBezTo>
                  <a:cubicBezTo>
                    <a:pt x="1910571" y="315424"/>
                    <a:pt x="1819596" y="406400"/>
                    <a:pt x="1707371"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21" id="21"/>
            <p:cNvSpPr txBox="true"/>
            <p:nvPr/>
          </p:nvSpPr>
          <p:spPr>
            <a:xfrm>
              <a:off x="0" y="-57150"/>
              <a:ext cx="1910571" cy="463550"/>
            </a:xfrm>
            <a:prstGeom prst="rect">
              <a:avLst/>
            </a:prstGeom>
          </p:spPr>
          <p:txBody>
            <a:bodyPr anchor="ctr" rtlCol="false" tIns="50800" lIns="50800" bIns="50800" rIns="50800"/>
            <a:lstStyle/>
            <a:p>
              <a:pPr algn="ctr" marL="0" indent="0" lvl="0">
                <a:lnSpc>
                  <a:spcPts val="2659"/>
                </a:lnSpc>
              </a:pPr>
            </a:p>
          </p:txBody>
        </p:sp>
      </p:grpSp>
      <p:grpSp>
        <p:nvGrpSpPr>
          <p:cNvPr name="Group 22" id="22"/>
          <p:cNvGrpSpPr/>
          <p:nvPr/>
        </p:nvGrpSpPr>
        <p:grpSpPr>
          <a:xfrm rot="0">
            <a:off x="3279005" y="7441010"/>
            <a:ext cx="9100816" cy="1935846"/>
            <a:chOff x="0" y="0"/>
            <a:chExt cx="1910571" cy="406400"/>
          </a:xfrm>
        </p:grpSpPr>
        <p:sp>
          <p:nvSpPr>
            <p:cNvPr name="Freeform 23" id="23"/>
            <p:cNvSpPr/>
            <p:nvPr/>
          </p:nvSpPr>
          <p:spPr>
            <a:xfrm flipH="false" flipV="false" rot="0">
              <a:off x="0" y="0"/>
              <a:ext cx="1910571" cy="406400"/>
            </a:xfrm>
            <a:custGeom>
              <a:avLst/>
              <a:gdLst/>
              <a:ahLst/>
              <a:cxnLst/>
              <a:rect r="r" b="b" t="t" l="l"/>
              <a:pathLst>
                <a:path h="406400" w="1910571">
                  <a:moveTo>
                    <a:pt x="1707371" y="0"/>
                  </a:moveTo>
                  <a:cubicBezTo>
                    <a:pt x="1819596" y="0"/>
                    <a:pt x="1910571" y="90976"/>
                    <a:pt x="1910571" y="203200"/>
                  </a:cubicBezTo>
                  <a:cubicBezTo>
                    <a:pt x="1910571" y="315424"/>
                    <a:pt x="1819596" y="406400"/>
                    <a:pt x="1707371"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24" id="24"/>
            <p:cNvSpPr txBox="true"/>
            <p:nvPr/>
          </p:nvSpPr>
          <p:spPr>
            <a:xfrm>
              <a:off x="0" y="-57150"/>
              <a:ext cx="1910571" cy="463550"/>
            </a:xfrm>
            <a:prstGeom prst="rect">
              <a:avLst/>
            </a:prstGeom>
          </p:spPr>
          <p:txBody>
            <a:bodyPr anchor="ctr" rtlCol="false" tIns="50800" lIns="50800" bIns="50800" rIns="50800"/>
            <a:lstStyle/>
            <a:p>
              <a:pPr algn="ctr" marL="0" indent="0" lvl="0">
                <a:lnSpc>
                  <a:spcPts val="2659"/>
                </a:lnSpc>
              </a:pPr>
            </a:p>
          </p:txBody>
        </p:sp>
      </p:grpSp>
      <p:grpSp>
        <p:nvGrpSpPr>
          <p:cNvPr name="Group 25" id="25"/>
          <p:cNvGrpSpPr/>
          <p:nvPr/>
        </p:nvGrpSpPr>
        <p:grpSpPr>
          <a:xfrm rot="0">
            <a:off x="288396" y="5294418"/>
            <a:ext cx="6455860" cy="1935846"/>
            <a:chOff x="0" y="0"/>
            <a:chExt cx="1355305" cy="406400"/>
          </a:xfrm>
        </p:grpSpPr>
        <p:sp>
          <p:nvSpPr>
            <p:cNvPr name="Freeform 26" id="26"/>
            <p:cNvSpPr/>
            <p:nvPr/>
          </p:nvSpPr>
          <p:spPr>
            <a:xfrm flipH="false" flipV="false" rot="0">
              <a:off x="0" y="0"/>
              <a:ext cx="1355305" cy="406400"/>
            </a:xfrm>
            <a:custGeom>
              <a:avLst/>
              <a:gdLst/>
              <a:ahLst/>
              <a:cxnLst/>
              <a:rect r="r" b="b" t="t" l="l"/>
              <a:pathLst>
                <a:path h="406400" w="1355305">
                  <a:moveTo>
                    <a:pt x="1152105" y="0"/>
                  </a:moveTo>
                  <a:cubicBezTo>
                    <a:pt x="1264329" y="0"/>
                    <a:pt x="1355305" y="90976"/>
                    <a:pt x="1355305" y="203200"/>
                  </a:cubicBezTo>
                  <a:cubicBezTo>
                    <a:pt x="1355305" y="315424"/>
                    <a:pt x="1264329" y="406400"/>
                    <a:pt x="1152105"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7" id="27"/>
            <p:cNvSpPr txBox="true"/>
            <p:nvPr/>
          </p:nvSpPr>
          <p:spPr>
            <a:xfrm>
              <a:off x="0" y="-57150"/>
              <a:ext cx="1355305" cy="463550"/>
            </a:xfrm>
            <a:prstGeom prst="rect">
              <a:avLst/>
            </a:prstGeom>
          </p:spPr>
          <p:txBody>
            <a:bodyPr anchor="ctr" rtlCol="false" tIns="50800" lIns="50800" bIns="50800" rIns="50800"/>
            <a:lstStyle/>
            <a:p>
              <a:pPr algn="ctr" marL="0" indent="0" lvl="0">
                <a:lnSpc>
                  <a:spcPts val="2659"/>
                </a:lnSpc>
              </a:pPr>
            </a:p>
          </p:txBody>
        </p:sp>
      </p:grpSp>
      <p:grpSp>
        <p:nvGrpSpPr>
          <p:cNvPr name="Group 28" id="28"/>
          <p:cNvGrpSpPr/>
          <p:nvPr/>
        </p:nvGrpSpPr>
        <p:grpSpPr>
          <a:xfrm rot="0">
            <a:off x="288396" y="7441010"/>
            <a:ext cx="6455860" cy="1935846"/>
            <a:chOff x="0" y="0"/>
            <a:chExt cx="1355305" cy="406400"/>
          </a:xfrm>
        </p:grpSpPr>
        <p:sp>
          <p:nvSpPr>
            <p:cNvPr name="Freeform 29" id="29"/>
            <p:cNvSpPr/>
            <p:nvPr/>
          </p:nvSpPr>
          <p:spPr>
            <a:xfrm flipH="false" flipV="false" rot="0">
              <a:off x="0" y="0"/>
              <a:ext cx="1355305" cy="406400"/>
            </a:xfrm>
            <a:custGeom>
              <a:avLst/>
              <a:gdLst/>
              <a:ahLst/>
              <a:cxnLst/>
              <a:rect r="r" b="b" t="t" l="l"/>
              <a:pathLst>
                <a:path h="406400" w="1355305">
                  <a:moveTo>
                    <a:pt x="1152105" y="0"/>
                  </a:moveTo>
                  <a:cubicBezTo>
                    <a:pt x="1264329" y="0"/>
                    <a:pt x="1355305" y="90976"/>
                    <a:pt x="1355305" y="203200"/>
                  </a:cubicBezTo>
                  <a:cubicBezTo>
                    <a:pt x="1355305" y="315424"/>
                    <a:pt x="1264329" y="406400"/>
                    <a:pt x="1152105"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30" id="30"/>
            <p:cNvSpPr txBox="true"/>
            <p:nvPr/>
          </p:nvSpPr>
          <p:spPr>
            <a:xfrm>
              <a:off x="0" y="-57150"/>
              <a:ext cx="1355305" cy="463550"/>
            </a:xfrm>
            <a:prstGeom prst="rect">
              <a:avLst/>
            </a:prstGeom>
          </p:spPr>
          <p:txBody>
            <a:bodyPr anchor="ctr" rtlCol="false" tIns="50800" lIns="50800" bIns="50800" rIns="50800"/>
            <a:lstStyle/>
            <a:p>
              <a:pPr algn="ctr" marL="0" indent="0" lvl="0">
                <a:lnSpc>
                  <a:spcPts val="2659"/>
                </a:lnSpc>
              </a:pPr>
            </a:p>
          </p:txBody>
        </p:sp>
      </p:grpSp>
      <p:sp>
        <p:nvSpPr>
          <p:cNvPr name="TextBox 31" id="31"/>
          <p:cNvSpPr txBox="true"/>
          <p:nvPr/>
        </p:nvSpPr>
        <p:spPr>
          <a:xfrm rot="0">
            <a:off x="1028700" y="2852108"/>
            <a:ext cx="10240555" cy="1600269"/>
          </a:xfrm>
          <a:prstGeom prst="rect">
            <a:avLst/>
          </a:prstGeom>
        </p:spPr>
        <p:txBody>
          <a:bodyPr anchor="t" rtlCol="false" tIns="0" lIns="0" bIns="0" rIns="0">
            <a:spAutoFit/>
          </a:bodyPr>
          <a:lstStyle/>
          <a:p>
            <a:pPr algn="l" marL="0" indent="0" lvl="0">
              <a:lnSpc>
                <a:spcPts val="3135"/>
              </a:lnSpc>
              <a:spcBef>
                <a:spcPct val="0"/>
              </a:spcBef>
            </a:pPr>
            <a:r>
              <a:rPr lang="en-US" sz="2239">
                <a:solidFill>
                  <a:srgbClr val="000000"/>
                </a:solidFill>
                <a:latin typeface="Poppins"/>
                <a:ea typeface="Poppins"/>
                <a:cs typeface="Poppins"/>
                <a:sym typeface="Poppins"/>
              </a:rPr>
              <a:t>Our AI Wine Quality Predictor delivers a complete end-to-end full-stack system that seamlessly integrates machine learning with production-ready web deployment. The architecture combines intelligent prediction capabilities with actionable recommendations.</a:t>
            </a:r>
          </a:p>
        </p:txBody>
      </p:sp>
      <p:sp>
        <p:nvSpPr>
          <p:cNvPr name="TextBox 32" id="32"/>
          <p:cNvSpPr txBox="true"/>
          <p:nvPr/>
        </p:nvSpPr>
        <p:spPr>
          <a:xfrm rot="0">
            <a:off x="562799" y="6189757"/>
            <a:ext cx="5907054" cy="907585"/>
          </a:xfrm>
          <a:prstGeom prst="rect">
            <a:avLst/>
          </a:prstGeom>
        </p:spPr>
        <p:txBody>
          <a:bodyPr anchor="t" rtlCol="false" tIns="0" lIns="0" bIns="0" rIns="0">
            <a:spAutoFit/>
          </a:bodyPr>
          <a:lstStyle/>
          <a:p>
            <a:pPr algn="ctr" marL="0" indent="0" lvl="0">
              <a:lnSpc>
                <a:spcPts val="2342"/>
              </a:lnSpc>
            </a:pPr>
            <a:r>
              <a:rPr lang="en-US" sz="1951">
                <a:solidFill>
                  <a:srgbClr val="FFFFFF"/>
                </a:solidFill>
                <a:latin typeface="Poppins"/>
                <a:ea typeface="Poppins"/>
                <a:cs typeface="Poppins"/>
                <a:sym typeface="Poppins"/>
              </a:rPr>
              <a:t>Hybrid ML model combining RandomForest classification and regression for accurate quality scoring.</a:t>
            </a:r>
          </a:p>
        </p:txBody>
      </p:sp>
      <p:sp>
        <p:nvSpPr>
          <p:cNvPr name="TextBox 33" id="33"/>
          <p:cNvSpPr txBox="true"/>
          <p:nvPr/>
        </p:nvSpPr>
        <p:spPr>
          <a:xfrm rot="0">
            <a:off x="904200" y="8208175"/>
            <a:ext cx="4985888" cy="910727"/>
          </a:xfrm>
          <a:prstGeom prst="rect">
            <a:avLst/>
          </a:prstGeom>
        </p:spPr>
        <p:txBody>
          <a:bodyPr anchor="t" rtlCol="false" tIns="0" lIns="0" bIns="0" rIns="0">
            <a:spAutoFit/>
          </a:bodyPr>
          <a:lstStyle/>
          <a:p>
            <a:pPr algn="ctr" marL="0" indent="0" lvl="0">
              <a:lnSpc>
                <a:spcPts val="2340"/>
              </a:lnSpc>
            </a:pPr>
            <a:r>
              <a:rPr lang="en-US" sz="1950">
                <a:solidFill>
                  <a:srgbClr val="FFFFFF"/>
                </a:solidFill>
                <a:latin typeface="Poppins"/>
                <a:ea typeface="Poppins"/>
                <a:cs typeface="Poppins"/>
                <a:sym typeface="Poppins"/>
              </a:rPr>
              <a:t>Intelligent feature suggestion engine that guides users toward desired wine quality targets.</a:t>
            </a:r>
          </a:p>
        </p:txBody>
      </p:sp>
      <p:sp>
        <p:nvSpPr>
          <p:cNvPr name="TextBox 34" id="34"/>
          <p:cNvSpPr txBox="true"/>
          <p:nvPr/>
        </p:nvSpPr>
        <p:spPr>
          <a:xfrm rot="0">
            <a:off x="6953045" y="6040096"/>
            <a:ext cx="4946890" cy="910727"/>
          </a:xfrm>
          <a:prstGeom prst="rect">
            <a:avLst/>
          </a:prstGeom>
        </p:spPr>
        <p:txBody>
          <a:bodyPr anchor="t" rtlCol="false" tIns="0" lIns="0" bIns="0" rIns="0">
            <a:spAutoFit/>
          </a:bodyPr>
          <a:lstStyle/>
          <a:p>
            <a:pPr algn="ctr" marL="0" indent="0" lvl="0">
              <a:lnSpc>
                <a:spcPts val="2340"/>
              </a:lnSpc>
            </a:pPr>
            <a:r>
              <a:rPr lang="en-US" sz="1950">
                <a:solidFill>
                  <a:srgbClr val="FFFFFF"/>
                </a:solidFill>
                <a:latin typeface="Poppins"/>
                <a:ea typeface="Poppins"/>
                <a:cs typeface="Poppins"/>
                <a:sym typeface="Poppins"/>
              </a:rPr>
              <a:t>Modern, responsive UI with interactive sliders, real-time validation, and dynamic results display.</a:t>
            </a:r>
          </a:p>
        </p:txBody>
      </p:sp>
      <p:sp>
        <p:nvSpPr>
          <p:cNvPr name="TextBox 35" id="35"/>
          <p:cNvSpPr txBox="true"/>
          <p:nvPr/>
        </p:nvSpPr>
        <p:spPr>
          <a:xfrm rot="0">
            <a:off x="6989600" y="8177411"/>
            <a:ext cx="4873779" cy="910727"/>
          </a:xfrm>
          <a:prstGeom prst="rect">
            <a:avLst/>
          </a:prstGeom>
        </p:spPr>
        <p:txBody>
          <a:bodyPr anchor="t" rtlCol="false" tIns="0" lIns="0" bIns="0" rIns="0">
            <a:spAutoFit/>
          </a:bodyPr>
          <a:lstStyle/>
          <a:p>
            <a:pPr algn="ctr" marL="0" indent="0" lvl="0">
              <a:lnSpc>
                <a:spcPts val="2340"/>
              </a:lnSpc>
            </a:pPr>
            <a:r>
              <a:rPr lang="en-US" sz="1950">
                <a:solidFill>
                  <a:srgbClr val="FFFFFF"/>
                </a:solidFill>
                <a:latin typeface="Poppins"/>
                <a:ea typeface="Poppins"/>
                <a:cs typeface="Poppins"/>
                <a:sym typeface="Poppins"/>
              </a:rPr>
              <a:t>Streamlined deployment workflow with model packaging, versioning, and live cloud hosting on Render.</a:t>
            </a:r>
          </a:p>
        </p:txBody>
      </p:sp>
      <p:sp>
        <p:nvSpPr>
          <p:cNvPr name="TextBox 36" id="36"/>
          <p:cNvSpPr txBox="true"/>
          <p:nvPr/>
        </p:nvSpPr>
        <p:spPr>
          <a:xfrm rot="0">
            <a:off x="1028700" y="1457834"/>
            <a:ext cx="9370960" cy="1152478"/>
          </a:xfrm>
          <a:prstGeom prst="rect">
            <a:avLst/>
          </a:prstGeom>
        </p:spPr>
        <p:txBody>
          <a:bodyPr anchor="t" rtlCol="false" tIns="0" lIns="0" bIns="0" rIns="0">
            <a:spAutoFit/>
          </a:bodyPr>
          <a:lstStyle/>
          <a:p>
            <a:pPr algn="l" marL="0" indent="0" lvl="0">
              <a:lnSpc>
                <a:spcPts val="8469"/>
              </a:lnSpc>
            </a:pPr>
            <a:r>
              <a:rPr lang="en-US" b="true" sz="7494" spc="-314">
                <a:solidFill>
                  <a:srgbClr val="39515A"/>
                </a:solidFill>
                <a:latin typeface="Poppins Semi-Bold"/>
                <a:ea typeface="Poppins Semi-Bold"/>
                <a:cs typeface="Poppins Semi-Bold"/>
                <a:sym typeface="Poppins Semi-Bold"/>
              </a:rPr>
              <a:t>The Solution</a:t>
            </a:r>
          </a:p>
        </p:txBody>
      </p:sp>
      <p:sp>
        <p:nvSpPr>
          <p:cNvPr name="TextBox 37" id="37"/>
          <p:cNvSpPr txBox="true"/>
          <p:nvPr/>
        </p:nvSpPr>
        <p:spPr>
          <a:xfrm rot="0">
            <a:off x="1064252" y="5566516"/>
            <a:ext cx="4904148" cy="490620"/>
          </a:xfrm>
          <a:prstGeom prst="rect">
            <a:avLst/>
          </a:prstGeom>
        </p:spPr>
        <p:txBody>
          <a:bodyPr anchor="t" rtlCol="false" tIns="0" lIns="0" bIns="0" rIns="0">
            <a:spAutoFit/>
          </a:bodyPr>
          <a:lstStyle/>
          <a:p>
            <a:pPr algn="ctr" marL="0" indent="0" lvl="0">
              <a:lnSpc>
                <a:spcPts val="3525"/>
              </a:lnSpc>
            </a:pPr>
            <a:r>
              <a:rPr lang="en-US" b="true" sz="3120" spc="-131">
                <a:solidFill>
                  <a:srgbClr val="FFFFFF"/>
                </a:solidFill>
                <a:latin typeface="Poppins Semi-Bold"/>
                <a:ea typeface="Poppins Semi-Bold"/>
                <a:cs typeface="Poppins Semi-Bold"/>
                <a:sym typeface="Poppins Semi-Bold"/>
              </a:rPr>
              <a:t>Prediction Engine</a:t>
            </a:r>
          </a:p>
        </p:txBody>
      </p:sp>
      <p:sp>
        <p:nvSpPr>
          <p:cNvPr name="TextBox 38" id="38"/>
          <p:cNvSpPr txBox="true"/>
          <p:nvPr/>
        </p:nvSpPr>
        <p:spPr>
          <a:xfrm rot="0">
            <a:off x="861419" y="7580980"/>
            <a:ext cx="5071450" cy="492630"/>
          </a:xfrm>
          <a:prstGeom prst="rect">
            <a:avLst/>
          </a:prstGeom>
        </p:spPr>
        <p:txBody>
          <a:bodyPr anchor="t" rtlCol="false" tIns="0" lIns="0" bIns="0" rIns="0">
            <a:spAutoFit/>
          </a:bodyPr>
          <a:lstStyle/>
          <a:p>
            <a:pPr algn="ctr" marL="0" indent="0" lvl="0">
              <a:lnSpc>
                <a:spcPts val="3526"/>
              </a:lnSpc>
            </a:pPr>
            <a:r>
              <a:rPr lang="en-US" b="true" sz="3120" spc="-131">
                <a:solidFill>
                  <a:srgbClr val="FFFFFF"/>
                </a:solidFill>
                <a:latin typeface="Poppins Semi-Bold"/>
                <a:ea typeface="Poppins Semi-Bold"/>
                <a:cs typeface="Poppins Semi-Bold"/>
                <a:sym typeface="Poppins Semi-Bold"/>
              </a:rPr>
              <a:t>Recommendation System</a:t>
            </a:r>
          </a:p>
        </p:txBody>
      </p:sp>
      <p:sp>
        <p:nvSpPr>
          <p:cNvPr name="TextBox 39" id="39"/>
          <p:cNvSpPr txBox="true"/>
          <p:nvPr/>
        </p:nvSpPr>
        <p:spPr>
          <a:xfrm rot="0">
            <a:off x="7066379" y="5566516"/>
            <a:ext cx="4527366" cy="492630"/>
          </a:xfrm>
          <a:prstGeom prst="rect">
            <a:avLst/>
          </a:prstGeom>
        </p:spPr>
        <p:txBody>
          <a:bodyPr anchor="t" rtlCol="false" tIns="0" lIns="0" bIns="0" rIns="0">
            <a:spAutoFit/>
          </a:bodyPr>
          <a:lstStyle/>
          <a:p>
            <a:pPr algn="ctr" marL="0" indent="0" lvl="0">
              <a:lnSpc>
                <a:spcPts val="3526"/>
              </a:lnSpc>
            </a:pPr>
            <a:r>
              <a:rPr lang="en-US" b="true" sz="3120" spc="-131">
                <a:solidFill>
                  <a:srgbClr val="FFFFFF"/>
                </a:solidFill>
                <a:latin typeface="Poppins Semi-Bold"/>
                <a:ea typeface="Poppins Semi-Bold"/>
                <a:cs typeface="Poppins Semi-Bold"/>
                <a:sym typeface="Poppins Semi-Bold"/>
              </a:rPr>
              <a:t>Web Interface</a:t>
            </a:r>
          </a:p>
        </p:txBody>
      </p:sp>
      <p:sp>
        <p:nvSpPr>
          <p:cNvPr name="TextBox 40" id="40"/>
          <p:cNvSpPr txBox="true"/>
          <p:nvPr/>
        </p:nvSpPr>
        <p:spPr>
          <a:xfrm rot="0">
            <a:off x="6747293" y="7639901"/>
            <a:ext cx="5358394" cy="492630"/>
          </a:xfrm>
          <a:prstGeom prst="rect">
            <a:avLst/>
          </a:prstGeom>
        </p:spPr>
        <p:txBody>
          <a:bodyPr anchor="t" rtlCol="false" tIns="0" lIns="0" bIns="0" rIns="0">
            <a:spAutoFit/>
          </a:bodyPr>
          <a:lstStyle/>
          <a:p>
            <a:pPr algn="ctr" marL="0" indent="0" lvl="0">
              <a:lnSpc>
                <a:spcPts val="3526"/>
              </a:lnSpc>
            </a:pPr>
            <a:r>
              <a:rPr lang="en-US" b="true" sz="3120" spc="-131">
                <a:solidFill>
                  <a:srgbClr val="FFFFFF"/>
                </a:solidFill>
                <a:latin typeface="Poppins Semi-Bold"/>
                <a:ea typeface="Poppins Semi-Bold"/>
                <a:cs typeface="Poppins Semi-Bold"/>
                <a:sym typeface="Poppins Semi-Bold"/>
              </a:rPr>
              <a:t>MLOps Pipeline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9411" y="3523923"/>
            <a:ext cx="22531440" cy="8336633"/>
          </a:xfrm>
          <a:custGeom>
            <a:avLst/>
            <a:gdLst/>
            <a:ahLst/>
            <a:cxnLst/>
            <a:rect r="r" b="b" t="t" l="l"/>
            <a:pathLst>
              <a:path h="8336633" w="22531440">
                <a:moveTo>
                  <a:pt x="0" y="0"/>
                </a:moveTo>
                <a:lnTo>
                  <a:pt x="22531440" y="0"/>
                </a:lnTo>
                <a:lnTo>
                  <a:pt x="22531440" y="8336633"/>
                </a:lnTo>
                <a:lnTo>
                  <a:pt x="0" y="8336633"/>
                </a:lnTo>
                <a:lnTo>
                  <a:pt x="0" y="0"/>
                </a:lnTo>
                <a:close/>
              </a:path>
            </a:pathLst>
          </a:custGeom>
          <a:blipFill>
            <a:blip r:embed="rId2">
              <a:alphaModFix amt="6000"/>
            </a:blip>
            <a:stretch>
              <a:fillRect l="0" t="0" r="0" b="0"/>
            </a:stretch>
          </a:blipFill>
        </p:spPr>
      </p:sp>
      <p:grpSp>
        <p:nvGrpSpPr>
          <p:cNvPr name="Group 3" id="3"/>
          <p:cNvGrpSpPr/>
          <p:nvPr/>
        </p:nvGrpSpPr>
        <p:grpSpPr>
          <a:xfrm rot="-862888">
            <a:off x="13988464" y="-3745921"/>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true" rot="-6270710">
            <a:off x="10806077" y="4649456"/>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3"/>
            <a:stretch>
              <a:fillRect l="0" t="-1843398" r="0" b="0"/>
            </a:stretch>
          </a:blipFill>
        </p:spPr>
      </p:sp>
      <p:grpSp>
        <p:nvGrpSpPr>
          <p:cNvPr name="Group 7" id="7"/>
          <p:cNvGrpSpPr/>
          <p:nvPr/>
        </p:nvGrpSpPr>
        <p:grpSpPr>
          <a:xfrm rot="-862888">
            <a:off x="17439238" y="-3745921"/>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852149">
            <a:off x="12852248" y="-1835184"/>
            <a:ext cx="887655" cy="5727768"/>
            <a:chOff x="0" y="0"/>
            <a:chExt cx="233786" cy="1508548"/>
          </a:xfrm>
        </p:grpSpPr>
        <p:sp>
          <p:nvSpPr>
            <p:cNvPr name="Freeform 11" id="11"/>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2" id="12"/>
            <p:cNvSpPr txBox="true"/>
            <p:nvPr/>
          </p:nvSpPr>
          <p:spPr>
            <a:xfrm>
              <a:off x="0" y="-57150"/>
              <a:ext cx="233786" cy="15656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28700" y="2861633"/>
            <a:ext cx="9770956" cy="1999021"/>
          </a:xfrm>
          <a:prstGeom prst="rect">
            <a:avLst/>
          </a:prstGeom>
        </p:spPr>
        <p:txBody>
          <a:bodyPr anchor="t" rtlCol="false" tIns="0" lIns="0" bIns="0" rIns="0">
            <a:spAutoFit/>
          </a:bodyPr>
          <a:lstStyle/>
          <a:p>
            <a:pPr algn="l" marL="0" indent="0" lvl="0">
              <a:lnSpc>
                <a:spcPts val="3217"/>
              </a:lnSpc>
              <a:spcBef>
                <a:spcPct val="0"/>
              </a:spcBef>
            </a:pPr>
            <a:r>
              <a:rPr lang="en-US" sz="2298">
                <a:solidFill>
                  <a:srgbClr val="000000"/>
                </a:solidFill>
                <a:latin typeface="Poppins"/>
                <a:ea typeface="Poppins"/>
                <a:cs typeface="Poppins"/>
                <a:sym typeface="Poppins"/>
              </a:rPr>
              <a:t>Our model leverages the UCI Wine Quality Dataset containing approximately</a:t>
            </a:r>
            <a:r>
              <a:rPr lang="en-US" b="true" sz="2298">
                <a:solidFill>
                  <a:srgbClr val="000000"/>
                </a:solidFill>
                <a:latin typeface="Poppins Bold"/>
                <a:ea typeface="Poppins Bold"/>
                <a:cs typeface="Poppins Bold"/>
                <a:sym typeface="Poppins Bold"/>
              </a:rPr>
              <a:t> 7,600 samples</a:t>
            </a:r>
            <a:r>
              <a:rPr lang="en-US" sz="2298">
                <a:solidFill>
                  <a:srgbClr val="000000"/>
                </a:solidFill>
                <a:latin typeface="Poppins"/>
                <a:ea typeface="Poppins"/>
                <a:cs typeface="Poppins"/>
                <a:sym typeface="Poppins"/>
              </a:rPr>
              <a:t> of red and white wine variants. Each sample includes </a:t>
            </a:r>
            <a:r>
              <a:rPr lang="en-US" b="true" sz="2298">
                <a:solidFill>
                  <a:srgbClr val="000000"/>
                </a:solidFill>
                <a:latin typeface="Poppins Bold"/>
                <a:ea typeface="Poppins Bold"/>
                <a:cs typeface="Poppins Bold"/>
                <a:sym typeface="Poppins Bold"/>
              </a:rPr>
              <a:t>11 physicochemical features</a:t>
            </a:r>
            <a:r>
              <a:rPr lang="en-US" sz="2298">
                <a:solidFill>
                  <a:srgbClr val="000000"/>
                </a:solidFill>
                <a:latin typeface="Poppins"/>
                <a:ea typeface="Poppins"/>
                <a:cs typeface="Poppins"/>
                <a:sym typeface="Poppins"/>
              </a:rPr>
              <a:t>: fixed acidity, volatile acidity, citric acid, residual sugar, chlorides, free sulfur dioxide, total sulfur dioxide, density, pH, sulphates, and alcohol content.</a:t>
            </a:r>
          </a:p>
        </p:txBody>
      </p:sp>
      <p:sp>
        <p:nvSpPr>
          <p:cNvPr name="TextBox 14" id="14"/>
          <p:cNvSpPr txBox="true"/>
          <p:nvPr/>
        </p:nvSpPr>
        <p:spPr>
          <a:xfrm rot="0">
            <a:off x="1028700" y="1324535"/>
            <a:ext cx="9945935" cy="1194467"/>
          </a:xfrm>
          <a:prstGeom prst="rect">
            <a:avLst/>
          </a:prstGeom>
        </p:spPr>
        <p:txBody>
          <a:bodyPr anchor="t" rtlCol="false" tIns="0" lIns="0" bIns="0" rIns="0">
            <a:spAutoFit/>
          </a:bodyPr>
          <a:lstStyle/>
          <a:p>
            <a:pPr algn="l" marL="0" indent="0" lvl="0">
              <a:lnSpc>
                <a:spcPts val="8680"/>
              </a:lnSpc>
            </a:pPr>
            <a:r>
              <a:rPr lang="en-US" b="true" sz="7682" spc="-322">
                <a:solidFill>
                  <a:srgbClr val="39515A"/>
                </a:solidFill>
                <a:latin typeface="Poppins Semi-Bold"/>
                <a:ea typeface="Poppins Semi-Bold"/>
                <a:cs typeface="Poppins Semi-Bold"/>
                <a:sym typeface="Poppins Semi-Bold"/>
              </a:rPr>
              <a:t>Data &amp; Preprocessing</a:t>
            </a:r>
          </a:p>
        </p:txBody>
      </p:sp>
      <p:sp>
        <p:nvSpPr>
          <p:cNvPr name="Freeform 15" id="15"/>
          <p:cNvSpPr/>
          <p:nvPr/>
        </p:nvSpPr>
        <p:spPr>
          <a:xfrm flipH="false" flipV="false" rot="0">
            <a:off x="10448778" y="1517287"/>
            <a:ext cx="8339862" cy="8392314"/>
          </a:xfrm>
          <a:custGeom>
            <a:avLst/>
            <a:gdLst/>
            <a:ahLst/>
            <a:cxnLst/>
            <a:rect r="r" b="b" t="t" l="l"/>
            <a:pathLst>
              <a:path h="8392314" w="8339862">
                <a:moveTo>
                  <a:pt x="0" y="0"/>
                </a:moveTo>
                <a:lnTo>
                  <a:pt x="8339862" y="0"/>
                </a:lnTo>
                <a:lnTo>
                  <a:pt x="8339862" y="8392314"/>
                </a:lnTo>
                <a:lnTo>
                  <a:pt x="0" y="8392314"/>
                </a:lnTo>
                <a:lnTo>
                  <a:pt x="0" y="0"/>
                </a:lnTo>
                <a:close/>
              </a:path>
            </a:pathLst>
          </a:custGeom>
          <a:blipFill>
            <a:blip r:embed="rId4"/>
            <a:stretch>
              <a:fillRect l="0" t="0" r="0" b="0"/>
            </a:stretch>
          </a:blipFill>
        </p:spPr>
      </p:sp>
      <p:grpSp>
        <p:nvGrpSpPr>
          <p:cNvPr name="Group 16" id="16"/>
          <p:cNvGrpSpPr/>
          <p:nvPr/>
        </p:nvGrpSpPr>
        <p:grpSpPr>
          <a:xfrm rot="0">
            <a:off x="10974635" y="2083097"/>
            <a:ext cx="7235354" cy="723535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989B"/>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11408738" y="2517200"/>
            <a:ext cx="6367148" cy="636714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0"/>
              </a:stretch>
            </a:blipFill>
          </p:spPr>
        </p:sp>
      </p:grpSp>
      <p:grpSp>
        <p:nvGrpSpPr>
          <p:cNvPr name="Group 21" id="21"/>
          <p:cNvGrpSpPr/>
          <p:nvPr/>
        </p:nvGrpSpPr>
        <p:grpSpPr>
          <a:xfrm rot="0">
            <a:off x="1028700" y="5454678"/>
            <a:ext cx="4577428" cy="671732"/>
            <a:chOff x="0" y="0"/>
            <a:chExt cx="2769360" cy="406400"/>
          </a:xfrm>
        </p:grpSpPr>
        <p:sp>
          <p:nvSpPr>
            <p:cNvPr name="Freeform 22" id="22"/>
            <p:cNvSpPr/>
            <p:nvPr/>
          </p:nvSpPr>
          <p:spPr>
            <a:xfrm flipH="false" flipV="false" rot="0">
              <a:off x="0" y="0"/>
              <a:ext cx="2769360" cy="406400"/>
            </a:xfrm>
            <a:custGeom>
              <a:avLst/>
              <a:gdLst/>
              <a:ahLst/>
              <a:cxnLst/>
              <a:rect r="r" b="b" t="t" l="l"/>
              <a:pathLst>
                <a:path h="406400" w="2769360">
                  <a:moveTo>
                    <a:pt x="2566160" y="0"/>
                  </a:moveTo>
                  <a:cubicBezTo>
                    <a:pt x="2678384" y="0"/>
                    <a:pt x="2769360" y="90976"/>
                    <a:pt x="2769360" y="203200"/>
                  </a:cubicBezTo>
                  <a:cubicBezTo>
                    <a:pt x="2769360" y="315424"/>
                    <a:pt x="2678384" y="406400"/>
                    <a:pt x="2566160"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3" id="23"/>
            <p:cNvSpPr txBox="true"/>
            <p:nvPr/>
          </p:nvSpPr>
          <p:spPr>
            <a:xfrm>
              <a:off x="0" y="-57150"/>
              <a:ext cx="2769360" cy="463550"/>
            </a:xfrm>
            <a:prstGeom prst="rect">
              <a:avLst/>
            </a:prstGeom>
          </p:spPr>
          <p:txBody>
            <a:bodyPr anchor="ctr" rtlCol="false" tIns="50800" lIns="50800" bIns="50800" rIns="50800"/>
            <a:lstStyle/>
            <a:p>
              <a:pPr algn="ctr" marL="0" indent="0" lvl="0">
                <a:lnSpc>
                  <a:spcPts val="2659"/>
                </a:lnSpc>
              </a:pPr>
            </a:p>
          </p:txBody>
        </p:sp>
      </p:grpSp>
      <p:grpSp>
        <p:nvGrpSpPr>
          <p:cNvPr name="Group 24" id="24"/>
          <p:cNvGrpSpPr/>
          <p:nvPr/>
        </p:nvGrpSpPr>
        <p:grpSpPr>
          <a:xfrm rot="0">
            <a:off x="6239119" y="5454678"/>
            <a:ext cx="3769592" cy="671732"/>
            <a:chOff x="0" y="0"/>
            <a:chExt cx="2280617" cy="406400"/>
          </a:xfrm>
        </p:grpSpPr>
        <p:sp>
          <p:nvSpPr>
            <p:cNvPr name="Freeform 25" id="25"/>
            <p:cNvSpPr/>
            <p:nvPr/>
          </p:nvSpPr>
          <p:spPr>
            <a:xfrm flipH="false" flipV="false" rot="0">
              <a:off x="0" y="0"/>
              <a:ext cx="2280617" cy="406400"/>
            </a:xfrm>
            <a:custGeom>
              <a:avLst/>
              <a:gdLst/>
              <a:ahLst/>
              <a:cxnLst/>
              <a:rect r="r" b="b" t="t" l="l"/>
              <a:pathLst>
                <a:path h="406400" w="2280617">
                  <a:moveTo>
                    <a:pt x="2077417" y="0"/>
                  </a:moveTo>
                  <a:cubicBezTo>
                    <a:pt x="2189641" y="0"/>
                    <a:pt x="2280617" y="90976"/>
                    <a:pt x="2280617" y="203200"/>
                  </a:cubicBezTo>
                  <a:cubicBezTo>
                    <a:pt x="2280617" y="315424"/>
                    <a:pt x="2189641" y="406400"/>
                    <a:pt x="2077417"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6" id="26"/>
            <p:cNvSpPr txBox="true"/>
            <p:nvPr/>
          </p:nvSpPr>
          <p:spPr>
            <a:xfrm>
              <a:off x="0" y="-57150"/>
              <a:ext cx="2280617" cy="463550"/>
            </a:xfrm>
            <a:prstGeom prst="rect">
              <a:avLst/>
            </a:prstGeom>
          </p:spPr>
          <p:txBody>
            <a:bodyPr anchor="ctr" rtlCol="false" tIns="50800" lIns="50800" bIns="50800" rIns="50800"/>
            <a:lstStyle/>
            <a:p>
              <a:pPr algn="ctr" marL="0" indent="0" lvl="0">
                <a:lnSpc>
                  <a:spcPts val="2659"/>
                </a:lnSpc>
              </a:pPr>
            </a:p>
          </p:txBody>
        </p:sp>
      </p:grpSp>
      <p:sp>
        <p:nvSpPr>
          <p:cNvPr name="TextBox 27" id="27"/>
          <p:cNvSpPr txBox="true"/>
          <p:nvPr/>
        </p:nvSpPr>
        <p:spPr>
          <a:xfrm rot="0">
            <a:off x="1361631" y="5525918"/>
            <a:ext cx="3911566" cy="455321"/>
          </a:xfrm>
          <a:prstGeom prst="rect">
            <a:avLst/>
          </a:prstGeom>
        </p:spPr>
        <p:txBody>
          <a:bodyPr anchor="t" rtlCol="false" tIns="0" lIns="0" bIns="0" rIns="0">
            <a:spAutoFit/>
          </a:bodyPr>
          <a:lstStyle/>
          <a:p>
            <a:pPr algn="ctr" marL="0" indent="0" lvl="0">
              <a:lnSpc>
                <a:spcPts val="3393"/>
              </a:lnSpc>
            </a:pPr>
            <a:r>
              <a:rPr lang="en-US" b="true" sz="3002" spc="-126">
                <a:solidFill>
                  <a:srgbClr val="FFFFFF"/>
                </a:solidFill>
                <a:latin typeface="Poppins Semi-Bold"/>
                <a:ea typeface="Poppins Semi-Bold"/>
                <a:cs typeface="Poppins Semi-Bold"/>
                <a:sym typeface="Poppins Semi-Bold"/>
              </a:rPr>
              <a:t>Data Cleaning</a:t>
            </a:r>
          </a:p>
        </p:txBody>
      </p:sp>
      <p:sp>
        <p:nvSpPr>
          <p:cNvPr name="TextBox 28" id="28"/>
          <p:cNvSpPr txBox="true"/>
          <p:nvPr/>
        </p:nvSpPr>
        <p:spPr>
          <a:xfrm rot="0">
            <a:off x="6646128" y="5525918"/>
            <a:ext cx="2802558" cy="455321"/>
          </a:xfrm>
          <a:prstGeom prst="rect">
            <a:avLst/>
          </a:prstGeom>
        </p:spPr>
        <p:txBody>
          <a:bodyPr anchor="t" rtlCol="false" tIns="0" lIns="0" bIns="0" rIns="0">
            <a:spAutoFit/>
          </a:bodyPr>
          <a:lstStyle/>
          <a:p>
            <a:pPr algn="ctr" marL="0" indent="0" lvl="0">
              <a:lnSpc>
                <a:spcPts val="3393"/>
              </a:lnSpc>
            </a:pPr>
            <a:r>
              <a:rPr lang="en-US" b="true" sz="3002" spc="-126">
                <a:solidFill>
                  <a:srgbClr val="FFFFFF"/>
                </a:solidFill>
                <a:latin typeface="Poppins Semi-Bold"/>
                <a:ea typeface="Poppins Semi-Bold"/>
                <a:cs typeface="Poppins Semi-Bold"/>
                <a:sym typeface="Poppins Semi-Bold"/>
              </a:rPr>
              <a:t>Feature Scaling</a:t>
            </a:r>
          </a:p>
        </p:txBody>
      </p:sp>
      <p:sp>
        <p:nvSpPr>
          <p:cNvPr name="Freeform 29" id="29"/>
          <p:cNvSpPr/>
          <p:nvPr/>
        </p:nvSpPr>
        <p:spPr>
          <a:xfrm flipH="false" flipV="false" rot="0">
            <a:off x="16691530" y="8619805"/>
            <a:ext cx="777864" cy="780055"/>
          </a:xfrm>
          <a:custGeom>
            <a:avLst/>
            <a:gdLst/>
            <a:ahLst/>
            <a:cxnLst/>
            <a:rect r="r" b="b" t="t" l="l"/>
            <a:pathLst>
              <a:path h="780055" w="777864">
                <a:moveTo>
                  <a:pt x="0" y="0"/>
                </a:moveTo>
                <a:lnTo>
                  <a:pt x="777864" y="0"/>
                </a:lnTo>
                <a:lnTo>
                  <a:pt x="777864" y="780055"/>
                </a:lnTo>
                <a:lnTo>
                  <a:pt x="0" y="780055"/>
                </a:lnTo>
                <a:lnTo>
                  <a:pt x="0" y="0"/>
                </a:lnTo>
                <a:close/>
              </a:path>
            </a:pathLst>
          </a:custGeom>
          <a:blipFill>
            <a:blip r:embed="rId6"/>
            <a:stretch>
              <a:fillRect l="0" t="0" r="0" b="0"/>
            </a:stretch>
          </a:blipFill>
        </p:spPr>
      </p:sp>
      <p:sp>
        <p:nvSpPr>
          <p:cNvPr name="Freeform 30" id="30"/>
          <p:cNvSpPr/>
          <p:nvPr/>
        </p:nvSpPr>
        <p:spPr>
          <a:xfrm flipH="false" flipV="false" rot="0">
            <a:off x="16075946" y="638154"/>
            <a:ext cx="1369627" cy="1369627"/>
          </a:xfrm>
          <a:custGeom>
            <a:avLst/>
            <a:gdLst/>
            <a:ahLst/>
            <a:cxnLst/>
            <a:rect r="r" b="b" t="t" l="l"/>
            <a:pathLst>
              <a:path h="1369627" w="1369627">
                <a:moveTo>
                  <a:pt x="0" y="0"/>
                </a:moveTo>
                <a:lnTo>
                  <a:pt x="1369626" y="0"/>
                </a:lnTo>
                <a:lnTo>
                  <a:pt x="1369626" y="1369627"/>
                </a:lnTo>
                <a:lnTo>
                  <a:pt x="0" y="1369627"/>
                </a:lnTo>
                <a:lnTo>
                  <a:pt x="0" y="0"/>
                </a:lnTo>
                <a:close/>
              </a:path>
            </a:pathLst>
          </a:custGeom>
          <a:blipFill>
            <a:blip r:embed="rId7">
              <a:alphaModFix amt="44999"/>
            </a:blip>
            <a:stretch>
              <a:fillRect l="0" t="0" r="0" b="0"/>
            </a:stretch>
          </a:blipFill>
        </p:spPr>
      </p:sp>
      <p:sp>
        <p:nvSpPr>
          <p:cNvPr name="TextBox 31" id="31"/>
          <p:cNvSpPr txBox="true"/>
          <p:nvPr/>
        </p:nvSpPr>
        <p:spPr>
          <a:xfrm rot="0">
            <a:off x="1028700" y="6383585"/>
            <a:ext cx="4577428" cy="2613025"/>
          </a:xfrm>
          <a:prstGeom prst="rect">
            <a:avLst/>
          </a:prstGeom>
        </p:spPr>
        <p:txBody>
          <a:bodyPr anchor="t" rtlCol="false" tIns="0" lIns="0" bIns="0" rIns="0">
            <a:spAutoFit/>
          </a:bodyPr>
          <a:lstStyle/>
          <a:p>
            <a:pPr algn="ctr" marL="0" indent="0" lvl="0">
              <a:lnSpc>
                <a:spcPts val="2600"/>
              </a:lnSpc>
            </a:pPr>
            <a:r>
              <a:rPr lang="en-US" sz="2000">
                <a:solidFill>
                  <a:srgbClr val="000000"/>
                </a:solidFill>
                <a:latin typeface="Poppins"/>
                <a:ea typeface="Poppins"/>
                <a:cs typeface="Poppins"/>
                <a:sym typeface="Poppins"/>
              </a:rPr>
              <a:t>Duplicate entries were identified and removed to ensure data integrity. Missing values were handled through systematic imputation, and outliers were detected using statistical methods to maintain dataset quality for model training.</a:t>
            </a:r>
          </a:p>
        </p:txBody>
      </p:sp>
      <p:sp>
        <p:nvSpPr>
          <p:cNvPr name="TextBox 32" id="32"/>
          <p:cNvSpPr txBox="true"/>
          <p:nvPr/>
        </p:nvSpPr>
        <p:spPr>
          <a:xfrm rot="0">
            <a:off x="5855231" y="6383585"/>
            <a:ext cx="4537370" cy="2289175"/>
          </a:xfrm>
          <a:prstGeom prst="rect">
            <a:avLst/>
          </a:prstGeom>
        </p:spPr>
        <p:txBody>
          <a:bodyPr anchor="t" rtlCol="false" tIns="0" lIns="0" bIns="0" rIns="0">
            <a:spAutoFit/>
          </a:bodyPr>
          <a:lstStyle/>
          <a:p>
            <a:pPr algn="ctr" marL="0" indent="0" lvl="0">
              <a:lnSpc>
                <a:spcPts val="2600"/>
              </a:lnSpc>
            </a:pPr>
            <a:r>
              <a:rPr lang="en-US" sz="2000">
                <a:solidFill>
                  <a:srgbClr val="000000"/>
                </a:solidFill>
                <a:latin typeface="Poppins"/>
                <a:ea typeface="Poppins"/>
                <a:cs typeface="Poppins"/>
                <a:sym typeface="Poppins"/>
              </a:rPr>
              <a:t>StandardScaler normalization applied to all 11 features ensuring zero mean and unit variance. This preprocessing step is critical for model convergence and consistent prediction performance across varying input ranges.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00244" y="3249480"/>
            <a:ext cx="24643710" cy="7423918"/>
          </a:xfrm>
          <a:custGeom>
            <a:avLst/>
            <a:gdLst/>
            <a:ahLst/>
            <a:cxnLst/>
            <a:rect r="r" b="b" t="t" l="l"/>
            <a:pathLst>
              <a:path h="7423918" w="24643710">
                <a:moveTo>
                  <a:pt x="0" y="0"/>
                </a:moveTo>
                <a:lnTo>
                  <a:pt x="24643710" y="0"/>
                </a:lnTo>
                <a:lnTo>
                  <a:pt x="24643710" y="7423918"/>
                </a:lnTo>
                <a:lnTo>
                  <a:pt x="0" y="7423918"/>
                </a:lnTo>
                <a:lnTo>
                  <a:pt x="0" y="0"/>
                </a:lnTo>
                <a:close/>
              </a:path>
            </a:pathLst>
          </a:custGeom>
          <a:blipFill>
            <a:blip r:embed="rId2">
              <a:alphaModFix amt="6000"/>
            </a:blip>
            <a:stretch>
              <a:fillRect l="0" t="0" r="0" b="0"/>
            </a:stretch>
          </a:blipFill>
        </p:spPr>
      </p:sp>
      <p:grpSp>
        <p:nvGrpSpPr>
          <p:cNvPr name="Group 3" id="3"/>
          <p:cNvGrpSpPr/>
          <p:nvPr/>
        </p:nvGrpSpPr>
        <p:grpSpPr>
          <a:xfrm rot="-1168322">
            <a:off x="-5144634" y="-1840415"/>
            <a:ext cx="7434779" cy="15382828"/>
            <a:chOff x="0" y="0"/>
            <a:chExt cx="1958131" cy="4051444"/>
          </a:xfrm>
        </p:grpSpPr>
        <p:sp>
          <p:nvSpPr>
            <p:cNvPr name="Freeform 4" id="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5" id="5"/>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1168322">
            <a:off x="-7703844" y="-1840415"/>
            <a:ext cx="7434779" cy="15382828"/>
            <a:chOff x="0" y="0"/>
            <a:chExt cx="1958131" cy="4051444"/>
          </a:xfrm>
        </p:grpSpPr>
        <p:sp>
          <p:nvSpPr>
            <p:cNvPr name="Freeform 7" id="7"/>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8" id="8"/>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1168322">
            <a:off x="384241" y="-2713330"/>
            <a:ext cx="887655" cy="8696949"/>
            <a:chOff x="0" y="0"/>
            <a:chExt cx="233786" cy="2290554"/>
          </a:xfrm>
        </p:grpSpPr>
        <p:sp>
          <p:nvSpPr>
            <p:cNvPr name="Freeform 10" id="10"/>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1" id="11"/>
            <p:cNvSpPr txBox="true"/>
            <p:nvPr/>
          </p:nvSpPr>
          <p:spPr>
            <a:xfrm>
              <a:off x="0" y="-57150"/>
              <a:ext cx="233786" cy="23477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6688926" y="1457834"/>
            <a:ext cx="10570374" cy="949763"/>
          </a:xfrm>
          <a:prstGeom prst="rect">
            <a:avLst/>
          </a:prstGeom>
        </p:spPr>
        <p:txBody>
          <a:bodyPr anchor="t" rtlCol="false" tIns="0" lIns="0" bIns="0" rIns="0">
            <a:spAutoFit/>
          </a:bodyPr>
          <a:lstStyle/>
          <a:p>
            <a:pPr algn="r" marL="0" indent="0" lvl="0">
              <a:lnSpc>
                <a:spcPts val="6916"/>
              </a:lnSpc>
            </a:pPr>
            <a:r>
              <a:rPr lang="en-US" b="true" sz="6120" spc="-257">
                <a:solidFill>
                  <a:srgbClr val="39515A"/>
                </a:solidFill>
                <a:latin typeface="Poppins Semi-Bold"/>
                <a:ea typeface="Poppins Semi-Bold"/>
                <a:cs typeface="Poppins Semi-Bold"/>
                <a:sym typeface="Poppins Semi-Bold"/>
              </a:rPr>
              <a:t>Addressing Class Imbalance</a:t>
            </a:r>
          </a:p>
        </p:txBody>
      </p:sp>
      <p:pic>
        <p:nvPicPr>
          <p:cNvPr name="Picture 13" id="13"/>
          <p:cNvPicPr>
            <a:picLocks noChangeAspect="true"/>
          </p:cNvPicPr>
          <p:nvPr/>
        </p:nvPicPr>
        <p:blipFill>
          <a:blip r:embed="rId3"/>
          <a:stretch>
            <a:fillRect/>
          </a:stretch>
        </p:blipFill>
        <p:spPr>
          <a:xfrm rot="0">
            <a:off x="3168010" y="2898421"/>
            <a:ext cx="7766262" cy="7007068"/>
          </a:xfrm>
          <a:prstGeom prst="rect">
            <a:avLst/>
          </a:prstGeom>
        </p:spPr>
      </p:pic>
      <p:grpSp>
        <p:nvGrpSpPr>
          <p:cNvPr name="Group 14" id="14"/>
          <p:cNvGrpSpPr/>
          <p:nvPr/>
        </p:nvGrpSpPr>
        <p:grpSpPr>
          <a:xfrm rot="0">
            <a:off x="12610544" y="3132958"/>
            <a:ext cx="6981409" cy="825303"/>
            <a:chOff x="0" y="0"/>
            <a:chExt cx="3437820" cy="406400"/>
          </a:xfrm>
        </p:grpSpPr>
        <p:sp>
          <p:nvSpPr>
            <p:cNvPr name="Freeform 15" id="15"/>
            <p:cNvSpPr/>
            <p:nvPr/>
          </p:nvSpPr>
          <p:spPr>
            <a:xfrm flipH="false" flipV="false" rot="0">
              <a:off x="0" y="0"/>
              <a:ext cx="3437820" cy="406400"/>
            </a:xfrm>
            <a:custGeom>
              <a:avLst/>
              <a:gdLst/>
              <a:ahLst/>
              <a:cxnLst/>
              <a:rect r="r" b="b" t="t" l="l"/>
              <a:pathLst>
                <a:path h="406400" w="3437820">
                  <a:moveTo>
                    <a:pt x="3234620" y="0"/>
                  </a:moveTo>
                  <a:cubicBezTo>
                    <a:pt x="3346845" y="0"/>
                    <a:pt x="3437820" y="90976"/>
                    <a:pt x="3437820" y="203200"/>
                  </a:cubicBezTo>
                  <a:cubicBezTo>
                    <a:pt x="3437820" y="315424"/>
                    <a:pt x="3346845" y="406400"/>
                    <a:pt x="3234620"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16" id="16"/>
            <p:cNvSpPr txBox="true"/>
            <p:nvPr/>
          </p:nvSpPr>
          <p:spPr>
            <a:xfrm>
              <a:off x="0" y="-57150"/>
              <a:ext cx="3437820" cy="463550"/>
            </a:xfrm>
            <a:prstGeom prst="rect">
              <a:avLst/>
            </a:prstGeom>
          </p:spPr>
          <p:txBody>
            <a:bodyPr anchor="ctr" rtlCol="false" tIns="50800" lIns="50800" bIns="50800" rIns="50800"/>
            <a:lstStyle/>
            <a:p>
              <a:pPr algn="ctr" marL="0" indent="0" lvl="0">
                <a:lnSpc>
                  <a:spcPts val="2659"/>
                </a:lnSpc>
              </a:pPr>
            </a:p>
          </p:txBody>
        </p:sp>
      </p:grpSp>
      <p:sp>
        <p:nvSpPr>
          <p:cNvPr name="TextBox 17" id="17"/>
          <p:cNvSpPr txBox="true"/>
          <p:nvPr/>
        </p:nvSpPr>
        <p:spPr>
          <a:xfrm rot="0">
            <a:off x="13003560" y="3223029"/>
            <a:ext cx="4255740" cy="626085"/>
          </a:xfrm>
          <a:prstGeom prst="rect">
            <a:avLst/>
          </a:prstGeom>
        </p:spPr>
        <p:txBody>
          <a:bodyPr anchor="t" rtlCol="false" tIns="0" lIns="0" bIns="0" rIns="0">
            <a:spAutoFit/>
          </a:bodyPr>
          <a:lstStyle/>
          <a:p>
            <a:pPr algn="r" marL="0" indent="0" lvl="0">
              <a:lnSpc>
                <a:spcPts val="4516"/>
              </a:lnSpc>
            </a:pPr>
            <a:r>
              <a:rPr lang="en-US" b="true" sz="3997" spc="-167">
                <a:solidFill>
                  <a:srgbClr val="FFFFFF"/>
                </a:solidFill>
                <a:latin typeface="Poppins Semi-Bold"/>
                <a:ea typeface="Poppins Semi-Bold"/>
                <a:cs typeface="Poppins Semi-Bold"/>
                <a:sym typeface="Poppins Semi-Bold"/>
              </a:rPr>
              <a:t>Data Distribution</a:t>
            </a:r>
          </a:p>
        </p:txBody>
      </p:sp>
      <p:sp>
        <p:nvSpPr>
          <p:cNvPr name="TextBox 18" id="18"/>
          <p:cNvSpPr txBox="true"/>
          <p:nvPr/>
        </p:nvSpPr>
        <p:spPr>
          <a:xfrm rot="0">
            <a:off x="10573223" y="4424986"/>
            <a:ext cx="6686077" cy="1861185"/>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000000"/>
                </a:solidFill>
                <a:latin typeface="Poppins"/>
                <a:ea typeface="Poppins"/>
                <a:cs typeface="Poppins"/>
                <a:sym typeface="Poppins"/>
              </a:rPr>
              <a:t>The dataset exhibits significant skew toward "medium quality" wines (scores 5-6), comprising ~82% of samples. This imbalance risks model bias toward majority classes, reducing prediction accuracy for exceptional or poor wines.</a:t>
            </a:r>
          </a:p>
        </p:txBody>
      </p:sp>
      <p:sp>
        <p:nvSpPr>
          <p:cNvPr name="TextBox 19" id="19"/>
          <p:cNvSpPr txBox="true"/>
          <p:nvPr/>
        </p:nvSpPr>
        <p:spPr>
          <a:xfrm rot="0">
            <a:off x="10573223" y="6744344"/>
            <a:ext cx="6686077" cy="2232660"/>
          </a:xfrm>
          <a:prstGeom prst="rect">
            <a:avLst/>
          </a:prstGeom>
        </p:spPr>
        <p:txBody>
          <a:bodyPr anchor="t" rtlCol="false" tIns="0" lIns="0" bIns="0" rIns="0">
            <a:spAutoFit/>
          </a:bodyPr>
          <a:lstStyle/>
          <a:p>
            <a:pPr algn="r" marL="0" indent="0" lvl="0">
              <a:lnSpc>
                <a:spcPts val="2940"/>
              </a:lnSpc>
              <a:spcBef>
                <a:spcPct val="0"/>
              </a:spcBef>
            </a:pPr>
            <a:r>
              <a:rPr lang="en-US" b="true" sz="2100">
                <a:solidFill>
                  <a:srgbClr val="000000"/>
                </a:solidFill>
                <a:latin typeface="Poppins Bold"/>
                <a:ea typeface="Poppins Bold"/>
                <a:cs typeface="Poppins Bold"/>
                <a:sym typeface="Poppins Bold"/>
              </a:rPr>
              <a:t>Solutions implemented:</a:t>
            </a:r>
          </a:p>
          <a:p>
            <a:pPr algn="r" marL="0" indent="0" lvl="0">
              <a:lnSpc>
                <a:spcPts val="2940"/>
              </a:lnSpc>
              <a:spcBef>
                <a:spcPct val="0"/>
              </a:spcBef>
            </a:pPr>
            <a:r>
              <a:rPr lang="en-US" sz="2100">
                <a:solidFill>
                  <a:srgbClr val="000000"/>
                </a:solidFill>
                <a:latin typeface="Poppins"/>
                <a:ea typeface="Poppins"/>
                <a:cs typeface="Poppins"/>
                <a:sym typeface="Poppins"/>
              </a:rPr>
              <a:t> SMOTE (Synthetic Minority Oversampling) to generate synthetic samples for underrepresented classes, class weighting in RandomForest to penalize misclassification of minority classes, and stratified train-test splits to preserve distribution.</a:t>
            </a:r>
          </a:p>
        </p:txBody>
      </p:sp>
      <p:sp>
        <p:nvSpPr>
          <p:cNvPr name="Freeform 20" id="20"/>
          <p:cNvSpPr/>
          <p:nvPr/>
        </p:nvSpPr>
        <p:spPr>
          <a:xfrm flipH="false" flipV="false" rot="0">
            <a:off x="345454" y="7850534"/>
            <a:ext cx="1364400" cy="1376976"/>
          </a:xfrm>
          <a:custGeom>
            <a:avLst/>
            <a:gdLst/>
            <a:ahLst/>
            <a:cxnLst/>
            <a:rect r="r" b="b" t="t" l="l"/>
            <a:pathLst>
              <a:path h="1376976" w="1364400">
                <a:moveTo>
                  <a:pt x="0" y="0"/>
                </a:moveTo>
                <a:lnTo>
                  <a:pt x="1364401" y="0"/>
                </a:lnTo>
                <a:lnTo>
                  <a:pt x="1364401" y="1376976"/>
                </a:lnTo>
                <a:lnTo>
                  <a:pt x="0" y="1376976"/>
                </a:lnTo>
                <a:lnTo>
                  <a:pt x="0" y="0"/>
                </a:lnTo>
                <a:close/>
              </a:path>
            </a:pathLst>
          </a:custGeom>
          <a:blipFill>
            <a:blip r:embed="rId4">
              <a:alphaModFix amt="44999"/>
            </a:blip>
            <a:stretch>
              <a:fillRect l="0" t="0" r="0" b="0"/>
            </a:stretch>
          </a:blipFill>
        </p:spPr>
      </p:sp>
      <p:sp>
        <p:nvSpPr>
          <p:cNvPr name="Freeform 21" id="21"/>
          <p:cNvSpPr/>
          <p:nvPr/>
        </p:nvSpPr>
        <p:spPr>
          <a:xfrm flipH="false" flipV="false" rot="0">
            <a:off x="2669668" y="1037785"/>
            <a:ext cx="1038241" cy="1026894"/>
          </a:xfrm>
          <a:custGeom>
            <a:avLst/>
            <a:gdLst/>
            <a:ahLst/>
            <a:cxnLst/>
            <a:rect r="r" b="b" t="t" l="l"/>
            <a:pathLst>
              <a:path h="1026894" w="1038241">
                <a:moveTo>
                  <a:pt x="0" y="0"/>
                </a:moveTo>
                <a:lnTo>
                  <a:pt x="1038240" y="0"/>
                </a:lnTo>
                <a:lnTo>
                  <a:pt x="1038240" y="1026894"/>
                </a:lnTo>
                <a:lnTo>
                  <a:pt x="0" y="1026894"/>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449677" y="4851682"/>
            <a:ext cx="25996625" cy="6304182"/>
          </a:xfrm>
          <a:custGeom>
            <a:avLst/>
            <a:gdLst/>
            <a:ahLst/>
            <a:cxnLst/>
            <a:rect r="r" b="b" t="t" l="l"/>
            <a:pathLst>
              <a:path h="6304182" w="25996625">
                <a:moveTo>
                  <a:pt x="0" y="0"/>
                </a:moveTo>
                <a:lnTo>
                  <a:pt x="25996625" y="0"/>
                </a:lnTo>
                <a:lnTo>
                  <a:pt x="25996625" y="6304182"/>
                </a:lnTo>
                <a:lnTo>
                  <a:pt x="0" y="6304182"/>
                </a:lnTo>
                <a:lnTo>
                  <a:pt x="0" y="0"/>
                </a:lnTo>
                <a:close/>
              </a:path>
            </a:pathLst>
          </a:custGeom>
          <a:blipFill>
            <a:blip r:embed="rId2">
              <a:alphaModFix amt="6000"/>
            </a:blip>
            <a:stretch>
              <a:fillRect l="0" t="0" r="0" b="0"/>
            </a:stretch>
          </a:blipFill>
        </p:spPr>
      </p:sp>
      <p:grpSp>
        <p:nvGrpSpPr>
          <p:cNvPr name="Group 3" id="3"/>
          <p:cNvGrpSpPr/>
          <p:nvPr/>
        </p:nvGrpSpPr>
        <p:grpSpPr>
          <a:xfrm rot="-862888">
            <a:off x="11744058" y="-3745921"/>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true" rot="-6270710">
            <a:off x="8940246" y="4649456"/>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3"/>
            <a:stretch>
              <a:fillRect l="0" t="-1843398" r="0" b="0"/>
            </a:stretch>
          </a:blipFill>
        </p:spPr>
      </p:sp>
      <p:grpSp>
        <p:nvGrpSpPr>
          <p:cNvPr name="Group 7" id="7"/>
          <p:cNvGrpSpPr/>
          <p:nvPr/>
        </p:nvGrpSpPr>
        <p:grpSpPr>
          <a:xfrm rot="-862888">
            <a:off x="15573406" y="-3745921"/>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1492143" y="1476884"/>
            <a:ext cx="6044346" cy="7333233"/>
            <a:chOff x="0" y="0"/>
            <a:chExt cx="5188077" cy="6294374"/>
          </a:xfrm>
        </p:grpSpPr>
        <p:sp>
          <p:nvSpPr>
            <p:cNvPr name="Freeform 11" id="11"/>
            <p:cNvSpPr/>
            <p:nvPr/>
          </p:nvSpPr>
          <p:spPr>
            <a:xfrm flipH="false" flipV="false" rot="0">
              <a:off x="40" y="0"/>
              <a:ext cx="5188037" cy="6294418"/>
            </a:xfrm>
            <a:custGeom>
              <a:avLst/>
              <a:gdLst/>
              <a:ahLst/>
              <a:cxnLst/>
              <a:rect r="r" b="b" t="t" l="l"/>
              <a:pathLst>
                <a:path h="6294418" w="5188037">
                  <a:moveTo>
                    <a:pt x="4895937" y="0"/>
                  </a:moveTo>
                  <a:cubicBezTo>
                    <a:pt x="5056592" y="0"/>
                    <a:pt x="5188037" y="131445"/>
                    <a:pt x="5188037" y="292100"/>
                  </a:cubicBezTo>
                  <a:lnTo>
                    <a:pt x="5188037" y="6057900"/>
                  </a:lnTo>
                  <a:cubicBezTo>
                    <a:pt x="5188037" y="6218555"/>
                    <a:pt x="5059640" y="6322060"/>
                    <a:pt x="4902668" y="6287897"/>
                  </a:cubicBezTo>
                  <a:lnTo>
                    <a:pt x="1565743" y="5561457"/>
                  </a:lnTo>
                  <a:cubicBezTo>
                    <a:pt x="1408771" y="5527294"/>
                    <a:pt x="1249132" y="5371592"/>
                    <a:pt x="1211159" y="5215509"/>
                  </a:cubicBezTo>
                  <a:lnTo>
                    <a:pt x="8088" y="283718"/>
                  </a:lnTo>
                  <a:cubicBezTo>
                    <a:pt x="-30012" y="127762"/>
                    <a:pt x="70191" y="0"/>
                    <a:pt x="230846" y="0"/>
                  </a:cubicBezTo>
                  <a:lnTo>
                    <a:pt x="4895937" y="0"/>
                  </a:lnTo>
                  <a:close/>
                </a:path>
              </a:pathLst>
            </a:custGeom>
            <a:blipFill>
              <a:blip r:embed="rId4"/>
              <a:stretch>
                <a:fillRect l="0" t="-956" r="0" b="-956"/>
              </a:stretch>
            </a:blipFill>
            <a:ln w="114300" cap="sq">
              <a:solidFill>
                <a:srgbClr val="FFFFFF"/>
              </a:solidFill>
              <a:prstDash val="solid"/>
              <a:miter/>
            </a:ln>
          </p:spPr>
        </p:sp>
      </p:grpSp>
      <p:grpSp>
        <p:nvGrpSpPr>
          <p:cNvPr name="Group 12" id="12"/>
          <p:cNvGrpSpPr/>
          <p:nvPr/>
        </p:nvGrpSpPr>
        <p:grpSpPr>
          <a:xfrm rot="-852149">
            <a:off x="10825427" y="-2621844"/>
            <a:ext cx="887655" cy="8696949"/>
            <a:chOff x="0" y="0"/>
            <a:chExt cx="233786" cy="2290554"/>
          </a:xfrm>
        </p:grpSpPr>
        <p:sp>
          <p:nvSpPr>
            <p:cNvPr name="Freeform 13" id="13"/>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4" id="14"/>
            <p:cNvSpPr txBox="true"/>
            <p:nvPr/>
          </p:nvSpPr>
          <p:spPr>
            <a:xfrm>
              <a:off x="0" y="-57150"/>
              <a:ext cx="233786" cy="23477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5" id="15"/>
          <p:cNvGrpSpPr/>
          <p:nvPr/>
        </p:nvGrpSpPr>
        <p:grpSpPr>
          <a:xfrm rot="-852149">
            <a:off x="12777214" y="7288478"/>
            <a:ext cx="887655" cy="3836978"/>
            <a:chOff x="0" y="0"/>
            <a:chExt cx="233786" cy="1010562"/>
          </a:xfrm>
        </p:grpSpPr>
        <p:sp>
          <p:nvSpPr>
            <p:cNvPr name="Freeform 16" id="16"/>
            <p:cNvSpPr/>
            <p:nvPr/>
          </p:nvSpPr>
          <p:spPr>
            <a:xfrm flipH="false" flipV="false" rot="0">
              <a:off x="0" y="0"/>
              <a:ext cx="233786" cy="1010562"/>
            </a:xfrm>
            <a:custGeom>
              <a:avLst/>
              <a:gdLst/>
              <a:ahLst/>
              <a:cxnLst/>
              <a:rect r="r" b="b" t="t" l="l"/>
              <a:pathLst>
                <a:path h="1010562" w="233786">
                  <a:moveTo>
                    <a:pt x="0" y="0"/>
                  </a:moveTo>
                  <a:lnTo>
                    <a:pt x="233786" y="0"/>
                  </a:lnTo>
                  <a:lnTo>
                    <a:pt x="233786" y="1010562"/>
                  </a:lnTo>
                  <a:lnTo>
                    <a:pt x="0" y="1010562"/>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17" id="17"/>
            <p:cNvSpPr txBox="true"/>
            <p:nvPr/>
          </p:nvSpPr>
          <p:spPr>
            <a:xfrm>
              <a:off x="0" y="-57150"/>
              <a:ext cx="233786" cy="106771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8" id="18"/>
          <p:cNvGrpSpPr/>
          <p:nvPr/>
        </p:nvGrpSpPr>
        <p:grpSpPr>
          <a:xfrm rot="0">
            <a:off x="4095518" y="5058496"/>
            <a:ext cx="9332732" cy="1985177"/>
            <a:chOff x="0" y="0"/>
            <a:chExt cx="1910571" cy="406400"/>
          </a:xfrm>
        </p:grpSpPr>
        <p:sp>
          <p:nvSpPr>
            <p:cNvPr name="Freeform 19" id="19"/>
            <p:cNvSpPr/>
            <p:nvPr/>
          </p:nvSpPr>
          <p:spPr>
            <a:xfrm flipH="false" flipV="false" rot="0">
              <a:off x="0" y="0"/>
              <a:ext cx="1910571" cy="406400"/>
            </a:xfrm>
            <a:custGeom>
              <a:avLst/>
              <a:gdLst/>
              <a:ahLst/>
              <a:cxnLst/>
              <a:rect r="r" b="b" t="t" l="l"/>
              <a:pathLst>
                <a:path h="406400" w="1910571">
                  <a:moveTo>
                    <a:pt x="1707371" y="0"/>
                  </a:moveTo>
                  <a:cubicBezTo>
                    <a:pt x="1819596" y="0"/>
                    <a:pt x="1910571" y="90976"/>
                    <a:pt x="1910571" y="203200"/>
                  </a:cubicBezTo>
                  <a:cubicBezTo>
                    <a:pt x="1910571" y="315424"/>
                    <a:pt x="1819596" y="406400"/>
                    <a:pt x="1707371"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20" id="20"/>
            <p:cNvSpPr txBox="true"/>
            <p:nvPr/>
          </p:nvSpPr>
          <p:spPr>
            <a:xfrm>
              <a:off x="0" y="-57150"/>
              <a:ext cx="1910571" cy="463550"/>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4095518" y="7259790"/>
            <a:ext cx="9332732" cy="1985177"/>
            <a:chOff x="0" y="0"/>
            <a:chExt cx="1910571" cy="406400"/>
          </a:xfrm>
        </p:grpSpPr>
        <p:sp>
          <p:nvSpPr>
            <p:cNvPr name="Freeform 22" id="22"/>
            <p:cNvSpPr/>
            <p:nvPr/>
          </p:nvSpPr>
          <p:spPr>
            <a:xfrm flipH="false" flipV="false" rot="0">
              <a:off x="0" y="0"/>
              <a:ext cx="1910571" cy="406400"/>
            </a:xfrm>
            <a:custGeom>
              <a:avLst/>
              <a:gdLst/>
              <a:ahLst/>
              <a:cxnLst/>
              <a:rect r="r" b="b" t="t" l="l"/>
              <a:pathLst>
                <a:path h="406400" w="1910571">
                  <a:moveTo>
                    <a:pt x="1707371" y="0"/>
                  </a:moveTo>
                  <a:cubicBezTo>
                    <a:pt x="1819596" y="0"/>
                    <a:pt x="1910571" y="90976"/>
                    <a:pt x="1910571" y="203200"/>
                  </a:cubicBezTo>
                  <a:cubicBezTo>
                    <a:pt x="1910571" y="315424"/>
                    <a:pt x="1819596" y="406400"/>
                    <a:pt x="1707371"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23" id="23"/>
            <p:cNvSpPr txBox="true"/>
            <p:nvPr/>
          </p:nvSpPr>
          <p:spPr>
            <a:xfrm>
              <a:off x="0" y="-57150"/>
              <a:ext cx="1910571" cy="463550"/>
            </a:xfrm>
            <a:prstGeom prst="rect">
              <a:avLst/>
            </a:prstGeom>
          </p:spPr>
          <p:txBody>
            <a:bodyPr anchor="ctr" rtlCol="false" tIns="50800" lIns="50800" bIns="50800" rIns="50800"/>
            <a:lstStyle/>
            <a:p>
              <a:pPr algn="ctr" marL="0" indent="0" lvl="0">
                <a:lnSpc>
                  <a:spcPts val="2659"/>
                </a:lnSpc>
              </a:pPr>
            </a:p>
          </p:txBody>
        </p:sp>
      </p:grpSp>
      <p:grpSp>
        <p:nvGrpSpPr>
          <p:cNvPr name="Group 24" id="24"/>
          <p:cNvGrpSpPr/>
          <p:nvPr/>
        </p:nvGrpSpPr>
        <p:grpSpPr>
          <a:xfrm rot="0">
            <a:off x="1028700" y="5058496"/>
            <a:ext cx="6620375" cy="1985177"/>
            <a:chOff x="0" y="0"/>
            <a:chExt cx="1355305" cy="406400"/>
          </a:xfrm>
        </p:grpSpPr>
        <p:sp>
          <p:nvSpPr>
            <p:cNvPr name="Freeform 25" id="25"/>
            <p:cNvSpPr/>
            <p:nvPr/>
          </p:nvSpPr>
          <p:spPr>
            <a:xfrm flipH="false" flipV="false" rot="0">
              <a:off x="0" y="0"/>
              <a:ext cx="1355305" cy="406400"/>
            </a:xfrm>
            <a:custGeom>
              <a:avLst/>
              <a:gdLst/>
              <a:ahLst/>
              <a:cxnLst/>
              <a:rect r="r" b="b" t="t" l="l"/>
              <a:pathLst>
                <a:path h="406400" w="1355305">
                  <a:moveTo>
                    <a:pt x="1152105" y="0"/>
                  </a:moveTo>
                  <a:cubicBezTo>
                    <a:pt x="1264329" y="0"/>
                    <a:pt x="1355305" y="90976"/>
                    <a:pt x="1355305" y="203200"/>
                  </a:cubicBezTo>
                  <a:cubicBezTo>
                    <a:pt x="1355305" y="315424"/>
                    <a:pt x="1264329" y="406400"/>
                    <a:pt x="1152105"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6" id="26"/>
            <p:cNvSpPr txBox="true"/>
            <p:nvPr/>
          </p:nvSpPr>
          <p:spPr>
            <a:xfrm>
              <a:off x="0" y="-57150"/>
              <a:ext cx="1355305" cy="463550"/>
            </a:xfrm>
            <a:prstGeom prst="rect">
              <a:avLst/>
            </a:prstGeom>
          </p:spPr>
          <p:txBody>
            <a:bodyPr anchor="ctr" rtlCol="false" tIns="50800" lIns="50800" bIns="50800" rIns="50800"/>
            <a:lstStyle/>
            <a:p>
              <a:pPr algn="ctr" marL="0" indent="0" lvl="0">
                <a:lnSpc>
                  <a:spcPts val="2659"/>
                </a:lnSpc>
              </a:pPr>
            </a:p>
          </p:txBody>
        </p:sp>
      </p:grpSp>
      <p:grpSp>
        <p:nvGrpSpPr>
          <p:cNvPr name="Group 27" id="27"/>
          <p:cNvGrpSpPr/>
          <p:nvPr/>
        </p:nvGrpSpPr>
        <p:grpSpPr>
          <a:xfrm rot="0">
            <a:off x="1028700" y="7259790"/>
            <a:ext cx="6620375" cy="1985177"/>
            <a:chOff x="0" y="0"/>
            <a:chExt cx="1355305" cy="406400"/>
          </a:xfrm>
        </p:grpSpPr>
        <p:sp>
          <p:nvSpPr>
            <p:cNvPr name="Freeform 28" id="28"/>
            <p:cNvSpPr/>
            <p:nvPr/>
          </p:nvSpPr>
          <p:spPr>
            <a:xfrm flipH="false" flipV="false" rot="0">
              <a:off x="0" y="0"/>
              <a:ext cx="1355305" cy="406400"/>
            </a:xfrm>
            <a:custGeom>
              <a:avLst/>
              <a:gdLst/>
              <a:ahLst/>
              <a:cxnLst/>
              <a:rect r="r" b="b" t="t" l="l"/>
              <a:pathLst>
                <a:path h="406400" w="1355305">
                  <a:moveTo>
                    <a:pt x="1152105" y="0"/>
                  </a:moveTo>
                  <a:cubicBezTo>
                    <a:pt x="1264329" y="0"/>
                    <a:pt x="1355305" y="90976"/>
                    <a:pt x="1355305" y="203200"/>
                  </a:cubicBezTo>
                  <a:cubicBezTo>
                    <a:pt x="1355305" y="315424"/>
                    <a:pt x="1264329" y="406400"/>
                    <a:pt x="1152105"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9" id="29"/>
            <p:cNvSpPr txBox="true"/>
            <p:nvPr/>
          </p:nvSpPr>
          <p:spPr>
            <a:xfrm>
              <a:off x="0" y="-57150"/>
              <a:ext cx="1355305" cy="463550"/>
            </a:xfrm>
            <a:prstGeom prst="rect">
              <a:avLst/>
            </a:prstGeom>
          </p:spPr>
          <p:txBody>
            <a:bodyPr anchor="ctr" rtlCol="false" tIns="50800" lIns="50800" bIns="50800" rIns="50800"/>
            <a:lstStyle/>
            <a:p>
              <a:pPr algn="ctr" marL="0" indent="0" lvl="0">
                <a:lnSpc>
                  <a:spcPts val="2659"/>
                </a:lnSpc>
              </a:pPr>
            </a:p>
          </p:txBody>
        </p:sp>
      </p:grpSp>
      <p:sp>
        <p:nvSpPr>
          <p:cNvPr name="TextBox 30" id="30"/>
          <p:cNvSpPr txBox="true"/>
          <p:nvPr/>
        </p:nvSpPr>
        <p:spPr>
          <a:xfrm rot="0">
            <a:off x="1028700" y="2852108"/>
            <a:ext cx="10057768" cy="142557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000000"/>
                </a:solidFill>
                <a:latin typeface="Poppins"/>
                <a:ea typeface="Poppins"/>
                <a:cs typeface="Poppins"/>
                <a:sym typeface="Poppins"/>
              </a:rPr>
              <a:t>Our prediction system employs a sophisticated two-step hybrid approach, combining classification and regression models to deliver both categorical quality assessments and precise numeric scores for comprehensive wine quality analysis.</a:t>
            </a:r>
          </a:p>
        </p:txBody>
      </p:sp>
      <p:sp>
        <p:nvSpPr>
          <p:cNvPr name="TextBox 31" id="31"/>
          <p:cNvSpPr txBox="true"/>
          <p:nvPr/>
        </p:nvSpPr>
        <p:spPr>
          <a:xfrm rot="0">
            <a:off x="1900500" y="5841590"/>
            <a:ext cx="4876776" cy="942975"/>
          </a:xfrm>
          <a:prstGeom prst="rect">
            <a:avLst/>
          </a:prstGeom>
        </p:spPr>
        <p:txBody>
          <a:bodyPr anchor="t" rtlCol="false" tIns="0" lIns="0" bIns="0" rIns="0">
            <a:spAutoFit/>
          </a:bodyPr>
          <a:lstStyle/>
          <a:p>
            <a:pPr algn="ctr" marL="0" indent="0" lvl="0">
              <a:lnSpc>
                <a:spcPts val="2400"/>
              </a:lnSpc>
            </a:pPr>
            <a:r>
              <a:rPr lang="en-US" sz="2000">
                <a:solidFill>
                  <a:srgbClr val="FFFFFF"/>
                </a:solidFill>
                <a:latin typeface="Poppins"/>
                <a:ea typeface="Poppins"/>
                <a:cs typeface="Poppins"/>
                <a:sym typeface="Poppins"/>
              </a:rPr>
              <a:t>Categorizes wines into Low, Medium, and High quality tiers using ensemble decision trees.</a:t>
            </a:r>
          </a:p>
        </p:txBody>
      </p:sp>
      <p:sp>
        <p:nvSpPr>
          <p:cNvPr name="TextBox 32" id="32"/>
          <p:cNvSpPr txBox="true"/>
          <p:nvPr/>
        </p:nvSpPr>
        <p:spPr>
          <a:xfrm rot="0">
            <a:off x="1900500" y="8129397"/>
            <a:ext cx="4876776" cy="942975"/>
          </a:xfrm>
          <a:prstGeom prst="rect">
            <a:avLst/>
          </a:prstGeom>
        </p:spPr>
        <p:txBody>
          <a:bodyPr anchor="t" rtlCol="false" tIns="0" lIns="0" bIns="0" rIns="0">
            <a:spAutoFit/>
          </a:bodyPr>
          <a:lstStyle/>
          <a:p>
            <a:pPr algn="ctr" marL="0" indent="0" lvl="0">
              <a:lnSpc>
                <a:spcPts val="2400"/>
              </a:lnSpc>
            </a:pPr>
            <a:r>
              <a:rPr lang="en-US" sz="2000">
                <a:solidFill>
                  <a:srgbClr val="FFFFFF"/>
                </a:solidFill>
                <a:latin typeface="Poppins"/>
                <a:ea typeface="Poppins"/>
                <a:cs typeface="Poppins"/>
                <a:sym typeface="Poppins"/>
              </a:rPr>
              <a:t>RandomForestRegressor with sample weighting to predict precise numeric quality scores (0-10).</a:t>
            </a:r>
          </a:p>
        </p:txBody>
      </p:sp>
      <p:sp>
        <p:nvSpPr>
          <p:cNvPr name="TextBox 33" id="33"/>
          <p:cNvSpPr txBox="true"/>
          <p:nvPr/>
        </p:nvSpPr>
        <p:spPr>
          <a:xfrm rot="0">
            <a:off x="7895937" y="5841590"/>
            <a:ext cx="4733505" cy="942975"/>
          </a:xfrm>
          <a:prstGeom prst="rect">
            <a:avLst/>
          </a:prstGeom>
        </p:spPr>
        <p:txBody>
          <a:bodyPr anchor="t" rtlCol="false" tIns="0" lIns="0" bIns="0" rIns="0">
            <a:spAutoFit/>
          </a:bodyPr>
          <a:lstStyle/>
          <a:p>
            <a:pPr algn="ctr" marL="0" indent="0" lvl="0">
              <a:lnSpc>
                <a:spcPts val="2400"/>
              </a:lnSpc>
            </a:pPr>
            <a:r>
              <a:rPr lang="en-US" sz="2000">
                <a:solidFill>
                  <a:srgbClr val="FFFFFF"/>
                </a:solidFill>
                <a:latin typeface="Poppins"/>
                <a:ea typeface="Poppins"/>
                <a:cs typeface="Poppins"/>
                <a:sym typeface="Poppins"/>
              </a:rPr>
              <a:t>Optimized 11 physicochemical features including alcohol content, acidity levels, and sulfur compounds.</a:t>
            </a:r>
          </a:p>
        </p:txBody>
      </p:sp>
      <p:sp>
        <p:nvSpPr>
          <p:cNvPr name="TextBox 34" id="34"/>
          <p:cNvSpPr txBox="true"/>
          <p:nvPr/>
        </p:nvSpPr>
        <p:spPr>
          <a:xfrm rot="0">
            <a:off x="8032908" y="8129397"/>
            <a:ext cx="4733505" cy="942975"/>
          </a:xfrm>
          <a:prstGeom prst="rect">
            <a:avLst/>
          </a:prstGeom>
        </p:spPr>
        <p:txBody>
          <a:bodyPr anchor="t" rtlCol="false" tIns="0" lIns="0" bIns="0" rIns="0">
            <a:spAutoFit/>
          </a:bodyPr>
          <a:lstStyle/>
          <a:p>
            <a:pPr algn="ctr" marL="0" indent="0" lvl="0">
              <a:lnSpc>
                <a:spcPts val="2400"/>
              </a:lnSpc>
            </a:pPr>
            <a:r>
              <a:rPr lang="en-US" sz="2000">
                <a:solidFill>
                  <a:srgbClr val="FFFFFF"/>
                </a:solidFill>
                <a:latin typeface="Poppins"/>
                <a:ea typeface="Poppins"/>
                <a:cs typeface="Poppins"/>
                <a:sym typeface="Poppins"/>
              </a:rPr>
              <a:t>Combined outputs from both models provide robust predictions with confidence intervals.</a:t>
            </a:r>
          </a:p>
        </p:txBody>
      </p:sp>
      <p:sp>
        <p:nvSpPr>
          <p:cNvPr name="TextBox 35" id="35"/>
          <p:cNvSpPr txBox="true"/>
          <p:nvPr/>
        </p:nvSpPr>
        <p:spPr>
          <a:xfrm rot="0">
            <a:off x="1028700" y="1457834"/>
            <a:ext cx="9370960" cy="919792"/>
          </a:xfrm>
          <a:prstGeom prst="rect">
            <a:avLst/>
          </a:prstGeom>
        </p:spPr>
        <p:txBody>
          <a:bodyPr anchor="t" rtlCol="false" tIns="0" lIns="0" bIns="0" rIns="0">
            <a:spAutoFit/>
          </a:bodyPr>
          <a:lstStyle/>
          <a:p>
            <a:pPr algn="l" marL="0" indent="0" lvl="0">
              <a:lnSpc>
                <a:spcPts val="6738"/>
              </a:lnSpc>
            </a:pPr>
            <a:r>
              <a:rPr lang="en-US" b="true" sz="5963" spc="-250">
                <a:solidFill>
                  <a:srgbClr val="39515A"/>
                </a:solidFill>
                <a:latin typeface="Poppins Semi-Bold"/>
                <a:ea typeface="Poppins Semi-Bold"/>
                <a:cs typeface="Poppins Semi-Bold"/>
                <a:sym typeface="Poppins Semi-Bold"/>
              </a:rPr>
              <a:t>Hybrid Model Architecture</a:t>
            </a:r>
          </a:p>
        </p:txBody>
      </p:sp>
      <p:sp>
        <p:nvSpPr>
          <p:cNvPr name="TextBox 36" id="36"/>
          <p:cNvSpPr txBox="true"/>
          <p:nvPr/>
        </p:nvSpPr>
        <p:spPr>
          <a:xfrm rot="0">
            <a:off x="1900500" y="5347538"/>
            <a:ext cx="4851576" cy="495173"/>
          </a:xfrm>
          <a:prstGeom prst="rect">
            <a:avLst/>
          </a:prstGeom>
        </p:spPr>
        <p:txBody>
          <a:bodyPr anchor="t" rtlCol="false" tIns="0" lIns="0" bIns="0" rIns="0">
            <a:spAutoFit/>
          </a:bodyPr>
          <a:lstStyle/>
          <a:p>
            <a:pPr algn="ctr" marL="0" indent="0" lvl="0">
              <a:lnSpc>
                <a:spcPts val="3616"/>
              </a:lnSpc>
            </a:pPr>
            <a:r>
              <a:rPr lang="en-US" b="true" sz="3200" spc="-134">
                <a:solidFill>
                  <a:srgbClr val="FFFFFF"/>
                </a:solidFill>
                <a:latin typeface="Poppins Semi-Bold"/>
                <a:ea typeface="Poppins Semi-Bold"/>
                <a:cs typeface="Poppins Semi-Bold"/>
                <a:sym typeface="Poppins Semi-Bold"/>
              </a:rPr>
              <a:t>RandomForest Classifier</a:t>
            </a:r>
          </a:p>
        </p:txBody>
      </p:sp>
      <p:sp>
        <p:nvSpPr>
          <p:cNvPr name="TextBox 37" id="37"/>
          <p:cNvSpPr txBox="true"/>
          <p:nvPr/>
        </p:nvSpPr>
        <p:spPr>
          <a:xfrm rot="0">
            <a:off x="2339192" y="7508600"/>
            <a:ext cx="3999391" cy="495173"/>
          </a:xfrm>
          <a:prstGeom prst="rect">
            <a:avLst/>
          </a:prstGeom>
        </p:spPr>
        <p:txBody>
          <a:bodyPr anchor="t" rtlCol="false" tIns="0" lIns="0" bIns="0" rIns="0">
            <a:spAutoFit/>
          </a:bodyPr>
          <a:lstStyle/>
          <a:p>
            <a:pPr algn="ctr" marL="0" indent="0" lvl="0">
              <a:lnSpc>
                <a:spcPts val="3616"/>
              </a:lnSpc>
            </a:pPr>
            <a:r>
              <a:rPr lang="en-US" b="true" sz="3200" spc="-134">
                <a:solidFill>
                  <a:srgbClr val="FFFFFF"/>
                </a:solidFill>
                <a:latin typeface="Poppins Semi-Bold"/>
                <a:ea typeface="Poppins Semi-Bold"/>
                <a:cs typeface="Poppins Semi-Bold"/>
                <a:sym typeface="Poppins Semi-Bold"/>
              </a:rPr>
              <a:t>Weighted Regressor</a:t>
            </a:r>
          </a:p>
        </p:txBody>
      </p:sp>
      <p:sp>
        <p:nvSpPr>
          <p:cNvPr name="TextBox 38" id="38"/>
          <p:cNvSpPr txBox="true"/>
          <p:nvPr/>
        </p:nvSpPr>
        <p:spPr>
          <a:xfrm rot="0">
            <a:off x="8320689" y="5347538"/>
            <a:ext cx="3999391" cy="495173"/>
          </a:xfrm>
          <a:prstGeom prst="rect">
            <a:avLst/>
          </a:prstGeom>
        </p:spPr>
        <p:txBody>
          <a:bodyPr anchor="t" rtlCol="false" tIns="0" lIns="0" bIns="0" rIns="0">
            <a:spAutoFit/>
          </a:bodyPr>
          <a:lstStyle/>
          <a:p>
            <a:pPr algn="ctr" marL="0" indent="0" lvl="0">
              <a:lnSpc>
                <a:spcPts val="3616"/>
              </a:lnSpc>
            </a:pPr>
            <a:r>
              <a:rPr lang="en-US" b="true" sz="3200" spc="-134">
                <a:solidFill>
                  <a:srgbClr val="FFFFFF"/>
                </a:solidFill>
                <a:latin typeface="Poppins Semi-Bold"/>
                <a:ea typeface="Poppins Semi-Bold"/>
                <a:cs typeface="Poppins Semi-Bold"/>
                <a:sym typeface="Poppins Semi-Bold"/>
              </a:rPr>
              <a:t>Feature Engineering</a:t>
            </a:r>
          </a:p>
        </p:txBody>
      </p:sp>
      <p:sp>
        <p:nvSpPr>
          <p:cNvPr name="TextBox 39" id="39"/>
          <p:cNvSpPr txBox="true"/>
          <p:nvPr/>
        </p:nvSpPr>
        <p:spPr>
          <a:xfrm rot="0">
            <a:off x="7953631" y="7577074"/>
            <a:ext cx="4733505" cy="495173"/>
          </a:xfrm>
          <a:prstGeom prst="rect">
            <a:avLst/>
          </a:prstGeom>
        </p:spPr>
        <p:txBody>
          <a:bodyPr anchor="t" rtlCol="false" tIns="0" lIns="0" bIns="0" rIns="0">
            <a:spAutoFit/>
          </a:bodyPr>
          <a:lstStyle/>
          <a:p>
            <a:pPr algn="ctr" marL="0" indent="0" lvl="0">
              <a:lnSpc>
                <a:spcPts val="3616"/>
              </a:lnSpc>
            </a:pPr>
            <a:r>
              <a:rPr lang="en-US" b="true" sz="3200" spc="-134">
                <a:solidFill>
                  <a:srgbClr val="FFFFFF"/>
                </a:solidFill>
                <a:latin typeface="Poppins Semi-Bold"/>
                <a:ea typeface="Poppins Semi-Bold"/>
                <a:cs typeface="Poppins Semi-Bold"/>
                <a:sym typeface="Poppins Semi-Bold"/>
              </a:rPr>
              <a:t>Ensemble Strategy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93803" y="1122336"/>
            <a:ext cx="24549316" cy="14778749"/>
          </a:xfrm>
          <a:custGeom>
            <a:avLst/>
            <a:gdLst/>
            <a:ahLst/>
            <a:cxnLst/>
            <a:rect r="r" b="b" t="t" l="l"/>
            <a:pathLst>
              <a:path h="14778749" w="24549316">
                <a:moveTo>
                  <a:pt x="0" y="0"/>
                </a:moveTo>
                <a:lnTo>
                  <a:pt x="24549315" y="0"/>
                </a:lnTo>
                <a:lnTo>
                  <a:pt x="24549315" y="14778750"/>
                </a:lnTo>
                <a:lnTo>
                  <a:pt x="0" y="14778750"/>
                </a:lnTo>
                <a:lnTo>
                  <a:pt x="0" y="0"/>
                </a:lnTo>
                <a:close/>
              </a:path>
            </a:pathLst>
          </a:custGeom>
          <a:blipFill>
            <a:blip r:embed="rId2">
              <a:alphaModFix amt="6000"/>
            </a:blip>
            <a:stretch>
              <a:fillRect l="0" t="0" r="0" b="0"/>
            </a:stretch>
          </a:blipFill>
        </p:spPr>
      </p:sp>
      <p:grpSp>
        <p:nvGrpSpPr>
          <p:cNvPr name="Group 3" id="3"/>
          <p:cNvGrpSpPr/>
          <p:nvPr/>
        </p:nvGrpSpPr>
        <p:grpSpPr>
          <a:xfrm rot="-862888">
            <a:off x="16254490" y="-3881126"/>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6270710">
            <a:off x="12621297" y="4418673"/>
            <a:ext cx="11889812" cy="609353"/>
          </a:xfrm>
          <a:custGeom>
            <a:avLst/>
            <a:gdLst/>
            <a:ahLst/>
            <a:cxnLst/>
            <a:rect r="r" b="b" t="t" l="l"/>
            <a:pathLst>
              <a:path h="609353" w="11889812">
                <a:moveTo>
                  <a:pt x="0" y="0"/>
                </a:moveTo>
                <a:lnTo>
                  <a:pt x="11889813" y="0"/>
                </a:lnTo>
                <a:lnTo>
                  <a:pt x="11889813" y="609353"/>
                </a:lnTo>
                <a:lnTo>
                  <a:pt x="0" y="609353"/>
                </a:lnTo>
                <a:lnTo>
                  <a:pt x="0" y="0"/>
                </a:lnTo>
                <a:close/>
              </a:path>
            </a:pathLst>
          </a:custGeom>
          <a:blipFill>
            <a:blip r:embed="rId3"/>
            <a:stretch>
              <a:fillRect l="0" t="0" r="0" b="0"/>
            </a:stretch>
          </a:blipFill>
        </p:spPr>
      </p:sp>
      <p:grpSp>
        <p:nvGrpSpPr>
          <p:cNvPr name="Group 7" id="7"/>
          <p:cNvGrpSpPr/>
          <p:nvPr/>
        </p:nvGrpSpPr>
        <p:grpSpPr>
          <a:xfrm rot="-862888">
            <a:off x="18515459" y="-3881126"/>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852149">
            <a:off x="15118274" y="-1970389"/>
            <a:ext cx="887655" cy="5727768"/>
            <a:chOff x="0" y="0"/>
            <a:chExt cx="233786" cy="1508548"/>
          </a:xfrm>
        </p:grpSpPr>
        <p:sp>
          <p:nvSpPr>
            <p:cNvPr name="Freeform 11" id="11"/>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2" id="12"/>
            <p:cNvSpPr txBox="true"/>
            <p:nvPr/>
          </p:nvSpPr>
          <p:spPr>
            <a:xfrm>
              <a:off x="0" y="-57150"/>
              <a:ext cx="233786" cy="156569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1168322">
            <a:off x="-5434054" y="-1840415"/>
            <a:ext cx="7434779" cy="15382828"/>
            <a:chOff x="0" y="0"/>
            <a:chExt cx="1958131" cy="4051444"/>
          </a:xfrm>
        </p:grpSpPr>
        <p:sp>
          <p:nvSpPr>
            <p:cNvPr name="Freeform 14" id="1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15" id="15"/>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6" id="16"/>
          <p:cNvSpPr/>
          <p:nvPr/>
        </p:nvSpPr>
        <p:spPr>
          <a:xfrm flipH="false" flipV="false" rot="-6579275">
            <a:off x="-18432032" y="-3926415"/>
            <a:ext cx="29903884" cy="823932"/>
          </a:xfrm>
          <a:custGeom>
            <a:avLst/>
            <a:gdLst/>
            <a:ahLst/>
            <a:cxnLst/>
            <a:rect r="r" b="b" t="t" l="l"/>
            <a:pathLst>
              <a:path h="823932" w="29903884">
                <a:moveTo>
                  <a:pt x="0" y="0"/>
                </a:moveTo>
                <a:lnTo>
                  <a:pt x="29903885" y="0"/>
                </a:lnTo>
                <a:lnTo>
                  <a:pt x="29903885" y="823932"/>
                </a:lnTo>
                <a:lnTo>
                  <a:pt x="0" y="823932"/>
                </a:lnTo>
                <a:lnTo>
                  <a:pt x="0" y="0"/>
                </a:lnTo>
                <a:close/>
              </a:path>
            </a:pathLst>
          </a:custGeom>
          <a:blipFill>
            <a:blip r:embed="rId4"/>
            <a:stretch>
              <a:fillRect l="0" t="0" r="0" b="0"/>
            </a:stretch>
          </a:blipFill>
        </p:spPr>
      </p:sp>
      <p:grpSp>
        <p:nvGrpSpPr>
          <p:cNvPr name="Group 17" id="17"/>
          <p:cNvGrpSpPr/>
          <p:nvPr/>
        </p:nvGrpSpPr>
        <p:grpSpPr>
          <a:xfrm rot="-1168322">
            <a:off x="-7993264" y="-1840415"/>
            <a:ext cx="7434779" cy="15382828"/>
            <a:chOff x="0" y="0"/>
            <a:chExt cx="1958131" cy="4051444"/>
          </a:xfrm>
        </p:grpSpPr>
        <p:sp>
          <p:nvSpPr>
            <p:cNvPr name="Freeform 18" id="1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19" id="19"/>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1168322">
            <a:off x="225069" y="-2545098"/>
            <a:ext cx="887655" cy="8696949"/>
            <a:chOff x="0" y="0"/>
            <a:chExt cx="233786" cy="2290554"/>
          </a:xfrm>
        </p:grpSpPr>
        <p:sp>
          <p:nvSpPr>
            <p:cNvPr name="Freeform 21" id="21"/>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22" id="22"/>
            <p:cNvSpPr txBox="true"/>
            <p:nvPr/>
          </p:nvSpPr>
          <p:spPr>
            <a:xfrm>
              <a:off x="0" y="-57150"/>
              <a:ext cx="233786" cy="23477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3858813" y="1467359"/>
            <a:ext cx="10570374" cy="818958"/>
          </a:xfrm>
          <a:prstGeom prst="rect">
            <a:avLst/>
          </a:prstGeom>
        </p:spPr>
        <p:txBody>
          <a:bodyPr anchor="t" rtlCol="false" tIns="0" lIns="0" bIns="0" rIns="0">
            <a:spAutoFit/>
          </a:bodyPr>
          <a:lstStyle/>
          <a:p>
            <a:pPr algn="ctr" marL="0" indent="0" lvl="0">
              <a:lnSpc>
                <a:spcPts val="6029"/>
              </a:lnSpc>
            </a:pPr>
            <a:r>
              <a:rPr lang="en-US" b="true" sz="5335" spc="-224">
                <a:solidFill>
                  <a:srgbClr val="39515A"/>
                </a:solidFill>
                <a:latin typeface="Poppins Semi-Bold"/>
                <a:ea typeface="Poppins Semi-Bold"/>
                <a:cs typeface="Poppins Semi-Bold"/>
                <a:sym typeface="Poppins Semi-Bold"/>
              </a:rPr>
              <a:t>Performance Metrics (Notebook)</a:t>
            </a:r>
          </a:p>
        </p:txBody>
      </p:sp>
      <p:sp>
        <p:nvSpPr>
          <p:cNvPr name="TextBox 24" id="24"/>
          <p:cNvSpPr txBox="true"/>
          <p:nvPr/>
        </p:nvSpPr>
        <p:spPr>
          <a:xfrm rot="0">
            <a:off x="2907892" y="2861633"/>
            <a:ext cx="12472217" cy="1198921"/>
          </a:xfrm>
          <a:prstGeom prst="rect">
            <a:avLst/>
          </a:prstGeom>
        </p:spPr>
        <p:txBody>
          <a:bodyPr anchor="t" rtlCol="false" tIns="0" lIns="0" bIns="0" rIns="0">
            <a:spAutoFit/>
          </a:bodyPr>
          <a:lstStyle/>
          <a:p>
            <a:pPr algn="ctr" marL="0" indent="0" lvl="0">
              <a:lnSpc>
                <a:spcPts val="3217"/>
              </a:lnSpc>
              <a:spcBef>
                <a:spcPct val="0"/>
              </a:spcBef>
            </a:pPr>
            <a:r>
              <a:rPr lang="en-US" sz="2298">
                <a:solidFill>
                  <a:srgbClr val="000000"/>
                </a:solidFill>
                <a:latin typeface="Poppins"/>
                <a:ea typeface="Poppins"/>
                <a:cs typeface="Poppins"/>
                <a:sym typeface="Poppins"/>
              </a:rPr>
              <a:t>Comprehensive evaluation of our hybrid model architecture reveals strong predictive performance across all quality categories. The feature importance analysis highlights alcohol content and volatile acidity as key predictors of wine quality scores.</a:t>
            </a:r>
          </a:p>
        </p:txBody>
      </p:sp>
      <p:pic>
        <p:nvPicPr>
          <p:cNvPr name="Picture 25" id="25"/>
          <p:cNvPicPr>
            <a:picLocks noChangeAspect="true"/>
          </p:cNvPicPr>
          <p:nvPr/>
        </p:nvPicPr>
        <p:blipFill>
          <a:blip r:embed="rId5"/>
          <a:stretch>
            <a:fillRect/>
          </a:stretch>
        </p:blipFill>
        <p:spPr>
          <a:xfrm rot="0">
            <a:off x="2723849" y="4062298"/>
            <a:ext cx="7848989" cy="5850085"/>
          </a:xfrm>
          <a:prstGeom prst="rect">
            <a:avLst/>
          </a:prstGeom>
        </p:spPr>
      </p:pic>
      <p:grpSp>
        <p:nvGrpSpPr>
          <p:cNvPr name="Group 26" id="26"/>
          <p:cNvGrpSpPr/>
          <p:nvPr/>
        </p:nvGrpSpPr>
        <p:grpSpPr>
          <a:xfrm rot="0">
            <a:off x="10572674" y="5188725"/>
            <a:ext cx="4807435" cy="670707"/>
            <a:chOff x="0" y="0"/>
            <a:chExt cx="2912956" cy="406400"/>
          </a:xfrm>
        </p:grpSpPr>
        <p:sp>
          <p:nvSpPr>
            <p:cNvPr name="Freeform 27" id="27"/>
            <p:cNvSpPr/>
            <p:nvPr/>
          </p:nvSpPr>
          <p:spPr>
            <a:xfrm flipH="false" flipV="false" rot="0">
              <a:off x="0" y="0"/>
              <a:ext cx="2912956" cy="406400"/>
            </a:xfrm>
            <a:custGeom>
              <a:avLst/>
              <a:gdLst/>
              <a:ahLst/>
              <a:cxnLst/>
              <a:rect r="r" b="b" t="t" l="l"/>
              <a:pathLst>
                <a:path h="406400" w="2912956">
                  <a:moveTo>
                    <a:pt x="2709756" y="0"/>
                  </a:moveTo>
                  <a:cubicBezTo>
                    <a:pt x="2821981" y="0"/>
                    <a:pt x="2912956" y="90976"/>
                    <a:pt x="2912956" y="203200"/>
                  </a:cubicBezTo>
                  <a:cubicBezTo>
                    <a:pt x="2912956" y="315424"/>
                    <a:pt x="2821981" y="406400"/>
                    <a:pt x="2709756"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8" id="28"/>
            <p:cNvSpPr txBox="true"/>
            <p:nvPr/>
          </p:nvSpPr>
          <p:spPr>
            <a:xfrm>
              <a:off x="0" y="-57150"/>
              <a:ext cx="2912956" cy="463550"/>
            </a:xfrm>
            <a:prstGeom prst="rect">
              <a:avLst/>
            </a:prstGeom>
          </p:spPr>
          <p:txBody>
            <a:bodyPr anchor="ctr" rtlCol="false" tIns="50800" lIns="50800" bIns="50800" rIns="50800"/>
            <a:lstStyle/>
            <a:p>
              <a:pPr algn="ctr" marL="0" indent="0" lvl="0">
                <a:lnSpc>
                  <a:spcPts val="2659"/>
                </a:lnSpc>
              </a:pPr>
            </a:p>
          </p:txBody>
        </p:sp>
      </p:grpSp>
      <p:grpSp>
        <p:nvGrpSpPr>
          <p:cNvPr name="Group 29" id="29"/>
          <p:cNvGrpSpPr/>
          <p:nvPr/>
        </p:nvGrpSpPr>
        <p:grpSpPr>
          <a:xfrm rot="0">
            <a:off x="10572674" y="6164233"/>
            <a:ext cx="4807435" cy="670707"/>
            <a:chOff x="0" y="0"/>
            <a:chExt cx="2912956" cy="406400"/>
          </a:xfrm>
        </p:grpSpPr>
        <p:sp>
          <p:nvSpPr>
            <p:cNvPr name="Freeform 30" id="30"/>
            <p:cNvSpPr/>
            <p:nvPr/>
          </p:nvSpPr>
          <p:spPr>
            <a:xfrm flipH="false" flipV="false" rot="0">
              <a:off x="0" y="0"/>
              <a:ext cx="2912956" cy="406400"/>
            </a:xfrm>
            <a:custGeom>
              <a:avLst/>
              <a:gdLst/>
              <a:ahLst/>
              <a:cxnLst/>
              <a:rect r="r" b="b" t="t" l="l"/>
              <a:pathLst>
                <a:path h="406400" w="2912956">
                  <a:moveTo>
                    <a:pt x="2709756" y="0"/>
                  </a:moveTo>
                  <a:cubicBezTo>
                    <a:pt x="2821981" y="0"/>
                    <a:pt x="2912956" y="90976"/>
                    <a:pt x="2912956" y="203200"/>
                  </a:cubicBezTo>
                  <a:cubicBezTo>
                    <a:pt x="2912956" y="315424"/>
                    <a:pt x="2821981" y="406400"/>
                    <a:pt x="2709756"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31" id="31"/>
            <p:cNvSpPr txBox="true"/>
            <p:nvPr/>
          </p:nvSpPr>
          <p:spPr>
            <a:xfrm>
              <a:off x="0" y="-57150"/>
              <a:ext cx="2912956" cy="463550"/>
            </a:xfrm>
            <a:prstGeom prst="rect">
              <a:avLst/>
            </a:prstGeom>
          </p:spPr>
          <p:txBody>
            <a:bodyPr anchor="ctr" rtlCol="false" tIns="50800" lIns="50800" bIns="50800" rIns="50800"/>
            <a:lstStyle/>
            <a:p>
              <a:pPr algn="ctr" marL="0" indent="0" lvl="0">
                <a:lnSpc>
                  <a:spcPts val="2659"/>
                </a:lnSpc>
              </a:pPr>
            </a:p>
          </p:txBody>
        </p:sp>
      </p:grpSp>
      <p:sp>
        <p:nvSpPr>
          <p:cNvPr name="TextBox 32" id="32"/>
          <p:cNvSpPr txBox="true"/>
          <p:nvPr/>
        </p:nvSpPr>
        <p:spPr>
          <a:xfrm rot="0">
            <a:off x="10976696" y="5296431"/>
            <a:ext cx="3999391" cy="455276"/>
          </a:xfrm>
          <a:prstGeom prst="rect">
            <a:avLst/>
          </a:prstGeom>
        </p:spPr>
        <p:txBody>
          <a:bodyPr anchor="t" rtlCol="false" tIns="0" lIns="0" bIns="0" rIns="0">
            <a:spAutoFit/>
          </a:bodyPr>
          <a:lstStyle/>
          <a:p>
            <a:pPr algn="ctr" marL="0" indent="0" lvl="0">
              <a:lnSpc>
                <a:spcPts val="3387"/>
              </a:lnSpc>
            </a:pPr>
            <a:r>
              <a:rPr lang="en-US" b="true" sz="2997" spc="-125">
                <a:solidFill>
                  <a:srgbClr val="FFFFFF"/>
                </a:solidFill>
                <a:latin typeface="Poppins Semi-Bold"/>
                <a:ea typeface="Poppins Semi-Bold"/>
                <a:cs typeface="Poppins Semi-Bold"/>
                <a:sym typeface="Poppins Semi-Bold"/>
              </a:rPr>
              <a:t>Accuracy</a:t>
            </a:r>
          </a:p>
        </p:txBody>
      </p:sp>
      <p:sp>
        <p:nvSpPr>
          <p:cNvPr name="TextBox 33" id="33"/>
          <p:cNvSpPr txBox="true"/>
          <p:nvPr/>
        </p:nvSpPr>
        <p:spPr>
          <a:xfrm rot="0">
            <a:off x="10976696" y="6271939"/>
            <a:ext cx="3999391" cy="455276"/>
          </a:xfrm>
          <a:prstGeom prst="rect">
            <a:avLst/>
          </a:prstGeom>
        </p:spPr>
        <p:txBody>
          <a:bodyPr anchor="t" rtlCol="false" tIns="0" lIns="0" bIns="0" rIns="0">
            <a:spAutoFit/>
          </a:bodyPr>
          <a:lstStyle/>
          <a:p>
            <a:pPr algn="ctr" marL="0" indent="0" lvl="0">
              <a:lnSpc>
                <a:spcPts val="3387"/>
              </a:lnSpc>
            </a:pPr>
            <a:r>
              <a:rPr lang="en-US" b="true" sz="2997" spc="-125">
                <a:solidFill>
                  <a:srgbClr val="FFFFFF"/>
                </a:solidFill>
                <a:latin typeface="Poppins Semi-Bold"/>
                <a:ea typeface="Poppins Semi-Bold"/>
                <a:cs typeface="Poppins Semi-Bold"/>
                <a:sym typeface="Poppins Semi-Bold"/>
              </a:rPr>
              <a:t>Precision</a:t>
            </a:r>
          </a:p>
        </p:txBody>
      </p:sp>
      <p:grpSp>
        <p:nvGrpSpPr>
          <p:cNvPr name="Group 34" id="34"/>
          <p:cNvGrpSpPr/>
          <p:nvPr/>
        </p:nvGrpSpPr>
        <p:grpSpPr>
          <a:xfrm rot="0">
            <a:off x="10572674" y="7139740"/>
            <a:ext cx="4807435" cy="670707"/>
            <a:chOff x="0" y="0"/>
            <a:chExt cx="2912956" cy="406400"/>
          </a:xfrm>
        </p:grpSpPr>
        <p:sp>
          <p:nvSpPr>
            <p:cNvPr name="Freeform 35" id="35"/>
            <p:cNvSpPr/>
            <p:nvPr/>
          </p:nvSpPr>
          <p:spPr>
            <a:xfrm flipH="false" flipV="false" rot="0">
              <a:off x="0" y="0"/>
              <a:ext cx="2912956" cy="406400"/>
            </a:xfrm>
            <a:custGeom>
              <a:avLst/>
              <a:gdLst/>
              <a:ahLst/>
              <a:cxnLst/>
              <a:rect r="r" b="b" t="t" l="l"/>
              <a:pathLst>
                <a:path h="406400" w="2912956">
                  <a:moveTo>
                    <a:pt x="2709756" y="0"/>
                  </a:moveTo>
                  <a:cubicBezTo>
                    <a:pt x="2821981" y="0"/>
                    <a:pt x="2912956" y="90976"/>
                    <a:pt x="2912956" y="203200"/>
                  </a:cubicBezTo>
                  <a:cubicBezTo>
                    <a:pt x="2912956" y="315424"/>
                    <a:pt x="2821981" y="406400"/>
                    <a:pt x="2709756"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36" id="36"/>
            <p:cNvSpPr txBox="true"/>
            <p:nvPr/>
          </p:nvSpPr>
          <p:spPr>
            <a:xfrm>
              <a:off x="0" y="-57150"/>
              <a:ext cx="2912956" cy="463550"/>
            </a:xfrm>
            <a:prstGeom prst="rect">
              <a:avLst/>
            </a:prstGeom>
          </p:spPr>
          <p:txBody>
            <a:bodyPr anchor="ctr" rtlCol="false" tIns="50800" lIns="50800" bIns="50800" rIns="50800"/>
            <a:lstStyle/>
            <a:p>
              <a:pPr algn="ctr" marL="0" indent="0" lvl="0">
                <a:lnSpc>
                  <a:spcPts val="2659"/>
                </a:lnSpc>
              </a:pPr>
            </a:p>
          </p:txBody>
        </p:sp>
      </p:grpSp>
      <p:sp>
        <p:nvSpPr>
          <p:cNvPr name="TextBox 37" id="37"/>
          <p:cNvSpPr txBox="true"/>
          <p:nvPr/>
        </p:nvSpPr>
        <p:spPr>
          <a:xfrm rot="0">
            <a:off x="10976696" y="7247446"/>
            <a:ext cx="3999391" cy="455276"/>
          </a:xfrm>
          <a:prstGeom prst="rect">
            <a:avLst/>
          </a:prstGeom>
        </p:spPr>
        <p:txBody>
          <a:bodyPr anchor="t" rtlCol="false" tIns="0" lIns="0" bIns="0" rIns="0">
            <a:spAutoFit/>
          </a:bodyPr>
          <a:lstStyle/>
          <a:p>
            <a:pPr algn="ctr" marL="0" indent="0" lvl="0">
              <a:lnSpc>
                <a:spcPts val="3387"/>
              </a:lnSpc>
            </a:pPr>
            <a:r>
              <a:rPr lang="en-US" b="true" sz="2997" spc="-125">
                <a:solidFill>
                  <a:srgbClr val="FFFFFF"/>
                </a:solidFill>
                <a:latin typeface="Poppins Semi-Bold"/>
                <a:ea typeface="Poppins Semi-Bold"/>
                <a:cs typeface="Poppins Semi-Bold"/>
                <a:sym typeface="Poppins Semi-Bold"/>
              </a:rPr>
              <a:t>Recall</a:t>
            </a:r>
          </a:p>
        </p:txBody>
      </p:sp>
      <p:grpSp>
        <p:nvGrpSpPr>
          <p:cNvPr name="Group 38" id="38"/>
          <p:cNvGrpSpPr/>
          <p:nvPr/>
        </p:nvGrpSpPr>
        <p:grpSpPr>
          <a:xfrm rot="0">
            <a:off x="10572674" y="8115247"/>
            <a:ext cx="4807435" cy="670707"/>
            <a:chOff x="0" y="0"/>
            <a:chExt cx="2912956" cy="406400"/>
          </a:xfrm>
        </p:grpSpPr>
        <p:sp>
          <p:nvSpPr>
            <p:cNvPr name="Freeform 39" id="39"/>
            <p:cNvSpPr/>
            <p:nvPr/>
          </p:nvSpPr>
          <p:spPr>
            <a:xfrm flipH="false" flipV="false" rot="0">
              <a:off x="0" y="0"/>
              <a:ext cx="2912956" cy="406400"/>
            </a:xfrm>
            <a:custGeom>
              <a:avLst/>
              <a:gdLst/>
              <a:ahLst/>
              <a:cxnLst/>
              <a:rect r="r" b="b" t="t" l="l"/>
              <a:pathLst>
                <a:path h="406400" w="2912956">
                  <a:moveTo>
                    <a:pt x="2709756" y="0"/>
                  </a:moveTo>
                  <a:cubicBezTo>
                    <a:pt x="2821981" y="0"/>
                    <a:pt x="2912956" y="90976"/>
                    <a:pt x="2912956" y="203200"/>
                  </a:cubicBezTo>
                  <a:cubicBezTo>
                    <a:pt x="2912956" y="315424"/>
                    <a:pt x="2821981" y="406400"/>
                    <a:pt x="2709756"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40" id="40"/>
            <p:cNvSpPr txBox="true"/>
            <p:nvPr/>
          </p:nvSpPr>
          <p:spPr>
            <a:xfrm>
              <a:off x="0" y="-57150"/>
              <a:ext cx="2912956" cy="463550"/>
            </a:xfrm>
            <a:prstGeom prst="rect">
              <a:avLst/>
            </a:prstGeom>
          </p:spPr>
          <p:txBody>
            <a:bodyPr anchor="ctr" rtlCol="false" tIns="50800" lIns="50800" bIns="50800" rIns="50800"/>
            <a:lstStyle/>
            <a:p>
              <a:pPr algn="ctr" marL="0" indent="0" lvl="0">
                <a:lnSpc>
                  <a:spcPts val="2659"/>
                </a:lnSpc>
              </a:pPr>
            </a:p>
          </p:txBody>
        </p:sp>
      </p:grpSp>
      <p:sp>
        <p:nvSpPr>
          <p:cNvPr name="TextBox 41" id="41"/>
          <p:cNvSpPr txBox="true"/>
          <p:nvPr/>
        </p:nvSpPr>
        <p:spPr>
          <a:xfrm rot="0">
            <a:off x="10976696" y="8222954"/>
            <a:ext cx="3999391" cy="455276"/>
          </a:xfrm>
          <a:prstGeom prst="rect">
            <a:avLst/>
          </a:prstGeom>
        </p:spPr>
        <p:txBody>
          <a:bodyPr anchor="t" rtlCol="false" tIns="0" lIns="0" bIns="0" rIns="0">
            <a:spAutoFit/>
          </a:bodyPr>
          <a:lstStyle/>
          <a:p>
            <a:pPr algn="ctr" marL="0" indent="0" lvl="0">
              <a:lnSpc>
                <a:spcPts val="3387"/>
              </a:lnSpc>
            </a:pPr>
            <a:r>
              <a:rPr lang="en-US" b="true" sz="2997" spc="-125">
                <a:solidFill>
                  <a:srgbClr val="FFFFFF"/>
                </a:solidFill>
                <a:latin typeface="Poppins Semi-Bold"/>
                <a:ea typeface="Poppins Semi-Bold"/>
                <a:cs typeface="Poppins Semi-Bold"/>
                <a:sym typeface="Poppins Semi-Bold"/>
              </a:rPr>
              <a:t>F1-Score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5727" y="5870376"/>
            <a:ext cx="24714730" cy="4541332"/>
          </a:xfrm>
          <a:custGeom>
            <a:avLst/>
            <a:gdLst/>
            <a:ahLst/>
            <a:cxnLst/>
            <a:rect r="r" b="b" t="t" l="l"/>
            <a:pathLst>
              <a:path h="4541332" w="24714730">
                <a:moveTo>
                  <a:pt x="0" y="0"/>
                </a:moveTo>
                <a:lnTo>
                  <a:pt x="24714730" y="0"/>
                </a:lnTo>
                <a:lnTo>
                  <a:pt x="24714730" y="4541332"/>
                </a:lnTo>
                <a:lnTo>
                  <a:pt x="0" y="4541332"/>
                </a:lnTo>
                <a:lnTo>
                  <a:pt x="0" y="0"/>
                </a:lnTo>
                <a:close/>
              </a:path>
            </a:pathLst>
          </a:custGeom>
          <a:blipFill>
            <a:blip r:embed="rId2">
              <a:alphaModFix amt="6000"/>
            </a:blip>
            <a:stretch>
              <a:fillRect l="0" t="0" r="0" b="0"/>
            </a:stretch>
          </a:blipFill>
        </p:spPr>
      </p:sp>
      <p:grpSp>
        <p:nvGrpSpPr>
          <p:cNvPr name="Group 3" id="3"/>
          <p:cNvGrpSpPr/>
          <p:nvPr/>
        </p:nvGrpSpPr>
        <p:grpSpPr>
          <a:xfrm rot="-1168322">
            <a:off x="-1234317" y="-1840415"/>
            <a:ext cx="7434779" cy="15382828"/>
            <a:chOff x="0" y="0"/>
            <a:chExt cx="1958131" cy="4051444"/>
          </a:xfrm>
        </p:grpSpPr>
        <p:sp>
          <p:nvSpPr>
            <p:cNvPr name="Freeform 4" id="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5" id="5"/>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6579275">
            <a:off x="-4290887" y="4649456"/>
            <a:ext cx="13353097" cy="404258"/>
          </a:xfrm>
          <a:custGeom>
            <a:avLst/>
            <a:gdLst/>
            <a:ahLst/>
            <a:cxnLst/>
            <a:rect r="r" b="b" t="t" l="l"/>
            <a:pathLst>
              <a:path h="404258" w="13353097">
                <a:moveTo>
                  <a:pt x="0" y="0"/>
                </a:moveTo>
                <a:lnTo>
                  <a:pt x="13353097" y="0"/>
                </a:lnTo>
                <a:lnTo>
                  <a:pt x="13353097" y="404258"/>
                </a:lnTo>
                <a:lnTo>
                  <a:pt x="0" y="404258"/>
                </a:lnTo>
                <a:lnTo>
                  <a:pt x="0" y="0"/>
                </a:lnTo>
                <a:close/>
              </a:path>
            </a:pathLst>
          </a:custGeom>
          <a:blipFill>
            <a:blip r:embed="rId3"/>
            <a:stretch>
              <a:fillRect l="0" t="-1843398" r="0" b="0"/>
            </a:stretch>
          </a:blipFill>
        </p:spPr>
      </p:sp>
      <p:grpSp>
        <p:nvGrpSpPr>
          <p:cNvPr name="Group 7" id="7"/>
          <p:cNvGrpSpPr/>
          <p:nvPr/>
        </p:nvGrpSpPr>
        <p:grpSpPr>
          <a:xfrm rot="-1168322">
            <a:off x="-5047683" y="-1840415"/>
            <a:ext cx="7434779" cy="15382828"/>
            <a:chOff x="0" y="0"/>
            <a:chExt cx="1958131" cy="4051444"/>
          </a:xfrm>
        </p:grpSpPr>
        <p:sp>
          <p:nvSpPr>
            <p:cNvPr name="Freeform 8" id="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9" id="9"/>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1168322">
            <a:off x="4294558" y="-2713330"/>
            <a:ext cx="887655" cy="8696949"/>
            <a:chOff x="0" y="0"/>
            <a:chExt cx="233786" cy="2290554"/>
          </a:xfrm>
        </p:grpSpPr>
        <p:sp>
          <p:nvSpPr>
            <p:cNvPr name="Freeform 11" id="11"/>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2" id="12"/>
            <p:cNvSpPr txBox="true"/>
            <p:nvPr/>
          </p:nvSpPr>
          <p:spPr>
            <a:xfrm>
              <a:off x="0" y="-57150"/>
              <a:ext cx="233786" cy="23477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698525" y="1635145"/>
            <a:ext cx="6763198" cy="7161407"/>
            <a:chOff x="0" y="0"/>
            <a:chExt cx="5944616" cy="6294628"/>
          </a:xfrm>
        </p:grpSpPr>
        <p:sp>
          <p:nvSpPr>
            <p:cNvPr name="Freeform 14" id="14"/>
            <p:cNvSpPr/>
            <p:nvPr/>
          </p:nvSpPr>
          <p:spPr>
            <a:xfrm flipH="false" flipV="false" rot="0">
              <a:off x="0" y="0"/>
              <a:ext cx="5944505" cy="6294633"/>
            </a:xfrm>
            <a:custGeom>
              <a:avLst/>
              <a:gdLst/>
              <a:ahLst/>
              <a:cxnLst/>
              <a:rect r="r" b="b" t="t" l="l"/>
              <a:pathLst>
                <a:path h="6294633" w="5944505">
                  <a:moveTo>
                    <a:pt x="5717413" y="0"/>
                  </a:moveTo>
                  <a:cubicBezTo>
                    <a:pt x="5878068" y="0"/>
                    <a:pt x="5976112" y="127127"/>
                    <a:pt x="5935218" y="282448"/>
                  </a:cubicBezTo>
                  <a:lnTo>
                    <a:pt x="4415282" y="6067552"/>
                  </a:lnTo>
                  <a:cubicBezTo>
                    <a:pt x="4374515" y="6222873"/>
                    <a:pt x="4212590" y="6322060"/>
                    <a:pt x="4055618" y="6287897"/>
                  </a:cubicBezTo>
                  <a:lnTo>
                    <a:pt x="285369" y="5466842"/>
                  </a:lnTo>
                  <a:cubicBezTo>
                    <a:pt x="128397" y="5432679"/>
                    <a:pt x="0" y="5273294"/>
                    <a:pt x="0" y="5112639"/>
                  </a:cubicBezTo>
                  <a:lnTo>
                    <a:pt x="0" y="292100"/>
                  </a:lnTo>
                  <a:cubicBezTo>
                    <a:pt x="0" y="131445"/>
                    <a:pt x="131445" y="0"/>
                    <a:pt x="292100" y="0"/>
                  </a:cubicBezTo>
                  <a:lnTo>
                    <a:pt x="5717413" y="0"/>
                  </a:lnTo>
                  <a:close/>
                </a:path>
              </a:pathLst>
            </a:custGeom>
            <a:blipFill>
              <a:blip r:embed="rId4"/>
              <a:stretch>
                <a:fillRect l="-2944" t="0" r="-2944" b="0"/>
              </a:stretch>
            </a:blipFill>
            <a:ln w="133350" cap="sq">
              <a:solidFill>
                <a:srgbClr val="FFFFFF"/>
              </a:solidFill>
              <a:prstDash val="solid"/>
              <a:miter/>
            </a:ln>
          </p:spPr>
        </p:sp>
      </p:grpSp>
      <p:sp>
        <p:nvSpPr>
          <p:cNvPr name="Freeform 15" id="15"/>
          <p:cNvSpPr/>
          <p:nvPr/>
        </p:nvSpPr>
        <p:spPr>
          <a:xfrm flipH="false" flipV="false" rot="0">
            <a:off x="555373" y="905648"/>
            <a:ext cx="1772642" cy="2064377"/>
          </a:xfrm>
          <a:custGeom>
            <a:avLst/>
            <a:gdLst/>
            <a:ahLst/>
            <a:cxnLst/>
            <a:rect r="r" b="b" t="t" l="l"/>
            <a:pathLst>
              <a:path h="2064377" w="1772642">
                <a:moveTo>
                  <a:pt x="0" y="0"/>
                </a:moveTo>
                <a:lnTo>
                  <a:pt x="1772642" y="0"/>
                </a:lnTo>
                <a:lnTo>
                  <a:pt x="1772642" y="2064378"/>
                </a:lnTo>
                <a:lnTo>
                  <a:pt x="0" y="2064378"/>
                </a:lnTo>
                <a:lnTo>
                  <a:pt x="0" y="0"/>
                </a:lnTo>
                <a:close/>
              </a:path>
            </a:pathLst>
          </a:custGeom>
          <a:blipFill>
            <a:blip r:embed="rId5">
              <a:alphaModFix amt="44999"/>
            </a:blip>
            <a:stretch>
              <a:fillRect l="0" t="0" r="0" b="0"/>
            </a:stretch>
          </a:blipFill>
        </p:spPr>
      </p:sp>
      <p:sp>
        <p:nvSpPr>
          <p:cNvPr name="Freeform 16" id="16"/>
          <p:cNvSpPr/>
          <p:nvPr/>
        </p:nvSpPr>
        <p:spPr>
          <a:xfrm flipH="false" flipV="false" rot="0">
            <a:off x="5447804" y="8252378"/>
            <a:ext cx="925508" cy="917674"/>
          </a:xfrm>
          <a:custGeom>
            <a:avLst/>
            <a:gdLst/>
            <a:ahLst/>
            <a:cxnLst/>
            <a:rect r="r" b="b" t="t" l="l"/>
            <a:pathLst>
              <a:path h="917674" w="925508">
                <a:moveTo>
                  <a:pt x="0" y="0"/>
                </a:moveTo>
                <a:lnTo>
                  <a:pt x="925509" y="0"/>
                </a:lnTo>
                <a:lnTo>
                  <a:pt x="925509" y="917674"/>
                </a:lnTo>
                <a:lnTo>
                  <a:pt x="0" y="917674"/>
                </a:lnTo>
                <a:lnTo>
                  <a:pt x="0" y="0"/>
                </a:lnTo>
                <a:close/>
              </a:path>
            </a:pathLst>
          </a:custGeom>
          <a:blipFill>
            <a:blip r:embed="rId6">
              <a:extLst>
                <a:ext uri="{96DAC541-7B7A-43D3-8B79-37D633B846F1}">
                  <asvg:svgBlip xmlns:asvg="http://schemas.microsoft.com/office/drawing/2016/SVG/main" r:embed="rId7"/>
                </a:ext>
              </a:extLst>
            </a:blip>
            <a:stretch>
              <a:fillRect l="0" t="-106388" r="-103152" b="0"/>
            </a:stretch>
          </a:blipFill>
        </p:spPr>
      </p:sp>
      <p:sp>
        <p:nvSpPr>
          <p:cNvPr name="TextBox 17" id="17"/>
          <p:cNvSpPr txBox="true"/>
          <p:nvPr/>
        </p:nvSpPr>
        <p:spPr>
          <a:xfrm rot="0">
            <a:off x="7488344" y="2861633"/>
            <a:ext cx="9770956" cy="2399030"/>
          </a:xfrm>
          <a:prstGeom prst="rect">
            <a:avLst/>
          </a:prstGeom>
        </p:spPr>
        <p:txBody>
          <a:bodyPr anchor="t" rtlCol="false" tIns="0" lIns="0" bIns="0" rIns="0">
            <a:spAutoFit/>
          </a:bodyPr>
          <a:lstStyle/>
          <a:p>
            <a:pPr algn="r" marL="0" indent="0" lvl="0">
              <a:lnSpc>
                <a:spcPts val="3220"/>
              </a:lnSpc>
              <a:spcBef>
                <a:spcPct val="0"/>
              </a:spcBef>
            </a:pPr>
            <a:r>
              <a:rPr lang="en-US" sz="2300">
                <a:solidFill>
                  <a:srgbClr val="000000"/>
                </a:solidFill>
                <a:latin typeface="Poppins"/>
                <a:ea typeface="Poppins"/>
                <a:cs typeface="Poppins"/>
                <a:sym typeface="Poppins"/>
              </a:rPr>
              <a:t>Our modern web interface delivers an intuitive user experience with interactive sliders for each physicochemical feature, real-time dynamic value displays, and comprehensive input validation. Users can easily adjust parameters like alcohol content, acidity levels, and sulfur dioxide concentrations while receiving instant visual feedback on their selections.</a:t>
            </a:r>
          </a:p>
        </p:txBody>
      </p:sp>
      <p:grpSp>
        <p:nvGrpSpPr>
          <p:cNvPr name="Group 18" id="18"/>
          <p:cNvGrpSpPr/>
          <p:nvPr/>
        </p:nvGrpSpPr>
        <p:grpSpPr>
          <a:xfrm rot="0">
            <a:off x="8551752" y="6721683"/>
            <a:ext cx="4641396" cy="739527"/>
            <a:chOff x="0" y="0"/>
            <a:chExt cx="2550636" cy="406400"/>
          </a:xfrm>
        </p:grpSpPr>
        <p:sp>
          <p:nvSpPr>
            <p:cNvPr name="Freeform 19" id="19"/>
            <p:cNvSpPr/>
            <p:nvPr/>
          </p:nvSpPr>
          <p:spPr>
            <a:xfrm flipH="false" flipV="false" rot="0">
              <a:off x="0" y="0"/>
              <a:ext cx="2550636" cy="406400"/>
            </a:xfrm>
            <a:custGeom>
              <a:avLst/>
              <a:gdLst/>
              <a:ahLst/>
              <a:cxnLst/>
              <a:rect r="r" b="b" t="t" l="l"/>
              <a:pathLst>
                <a:path h="406400" w="2550636">
                  <a:moveTo>
                    <a:pt x="2347436" y="0"/>
                  </a:moveTo>
                  <a:cubicBezTo>
                    <a:pt x="2459660" y="0"/>
                    <a:pt x="2550636" y="90976"/>
                    <a:pt x="2550636" y="203200"/>
                  </a:cubicBezTo>
                  <a:cubicBezTo>
                    <a:pt x="2550636" y="315424"/>
                    <a:pt x="2459660" y="406400"/>
                    <a:pt x="2347436"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20" id="20"/>
            <p:cNvSpPr txBox="true"/>
            <p:nvPr/>
          </p:nvSpPr>
          <p:spPr>
            <a:xfrm>
              <a:off x="0" y="-57150"/>
              <a:ext cx="2550636" cy="463550"/>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8551752" y="7712317"/>
            <a:ext cx="4641396" cy="739527"/>
            <a:chOff x="0" y="0"/>
            <a:chExt cx="2550636" cy="406400"/>
          </a:xfrm>
        </p:grpSpPr>
        <p:sp>
          <p:nvSpPr>
            <p:cNvPr name="Freeform 22" id="22"/>
            <p:cNvSpPr/>
            <p:nvPr/>
          </p:nvSpPr>
          <p:spPr>
            <a:xfrm flipH="false" flipV="false" rot="0">
              <a:off x="0" y="0"/>
              <a:ext cx="2550636" cy="406400"/>
            </a:xfrm>
            <a:custGeom>
              <a:avLst/>
              <a:gdLst/>
              <a:ahLst/>
              <a:cxnLst/>
              <a:rect r="r" b="b" t="t" l="l"/>
              <a:pathLst>
                <a:path h="406400" w="2550636">
                  <a:moveTo>
                    <a:pt x="2347436" y="0"/>
                  </a:moveTo>
                  <a:cubicBezTo>
                    <a:pt x="2459660" y="0"/>
                    <a:pt x="2550636" y="90976"/>
                    <a:pt x="2550636" y="203200"/>
                  </a:cubicBezTo>
                  <a:cubicBezTo>
                    <a:pt x="2550636" y="315424"/>
                    <a:pt x="2459660" y="406400"/>
                    <a:pt x="2347436"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23" id="23"/>
            <p:cNvSpPr txBox="true"/>
            <p:nvPr/>
          </p:nvSpPr>
          <p:spPr>
            <a:xfrm>
              <a:off x="0" y="-57150"/>
              <a:ext cx="2550636" cy="463550"/>
            </a:xfrm>
            <a:prstGeom prst="rect">
              <a:avLst/>
            </a:prstGeom>
          </p:spPr>
          <p:txBody>
            <a:bodyPr anchor="ctr" rtlCol="false" tIns="50800" lIns="50800" bIns="50800" rIns="50800"/>
            <a:lstStyle/>
            <a:p>
              <a:pPr algn="ctr" marL="0" indent="0" lvl="0">
                <a:lnSpc>
                  <a:spcPts val="2659"/>
                </a:lnSpc>
              </a:pPr>
            </a:p>
          </p:txBody>
        </p:sp>
      </p:grpSp>
      <p:grpSp>
        <p:nvGrpSpPr>
          <p:cNvPr name="Group 24" id="24"/>
          <p:cNvGrpSpPr/>
          <p:nvPr/>
        </p:nvGrpSpPr>
        <p:grpSpPr>
          <a:xfrm rot="0">
            <a:off x="13508056" y="6721683"/>
            <a:ext cx="3751244" cy="739527"/>
            <a:chOff x="0" y="0"/>
            <a:chExt cx="2061461" cy="406400"/>
          </a:xfrm>
        </p:grpSpPr>
        <p:sp>
          <p:nvSpPr>
            <p:cNvPr name="Freeform 25" id="25"/>
            <p:cNvSpPr/>
            <p:nvPr/>
          </p:nvSpPr>
          <p:spPr>
            <a:xfrm flipH="false" flipV="false" rot="0">
              <a:off x="0" y="0"/>
              <a:ext cx="2061461" cy="406400"/>
            </a:xfrm>
            <a:custGeom>
              <a:avLst/>
              <a:gdLst/>
              <a:ahLst/>
              <a:cxnLst/>
              <a:rect r="r" b="b" t="t" l="l"/>
              <a:pathLst>
                <a:path h="406400" w="2061461">
                  <a:moveTo>
                    <a:pt x="1858261" y="0"/>
                  </a:moveTo>
                  <a:cubicBezTo>
                    <a:pt x="1970485" y="0"/>
                    <a:pt x="2061461" y="90976"/>
                    <a:pt x="2061461" y="203200"/>
                  </a:cubicBezTo>
                  <a:cubicBezTo>
                    <a:pt x="2061461" y="315424"/>
                    <a:pt x="1970485" y="406400"/>
                    <a:pt x="1858261"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6" id="26"/>
            <p:cNvSpPr txBox="true"/>
            <p:nvPr/>
          </p:nvSpPr>
          <p:spPr>
            <a:xfrm>
              <a:off x="0" y="-57150"/>
              <a:ext cx="2061461" cy="463550"/>
            </a:xfrm>
            <a:prstGeom prst="rect">
              <a:avLst/>
            </a:prstGeom>
          </p:spPr>
          <p:txBody>
            <a:bodyPr anchor="ctr" rtlCol="false" tIns="50800" lIns="50800" bIns="50800" rIns="50800"/>
            <a:lstStyle/>
            <a:p>
              <a:pPr algn="ctr" marL="0" indent="0" lvl="0">
                <a:lnSpc>
                  <a:spcPts val="2659"/>
                </a:lnSpc>
              </a:pPr>
            </a:p>
          </p:txBody>
        </p:sp>
      </p:grpSp>
      <p:grpSp>
        <p:nvGrpSpPr>
          <p:cNvPr name="Group 27" id="27"/>
          <p:cNvGrpSpPr/>
          <p:nvPr/>
        </p:nvGrpSpPr>
        <p:grpSpPr>
          <a:xfrm rot="0">
            <a:off x="13508056" y="7712317"/>
            <a:ext cx="3751244" cy="739527"/>
            <a:chOff x="0" y="0"/>
            <a:chExt cx="2061461" cy="406400"/>
          </a:xfrm>
        </p:grpSpPr>
        <p:sp>
          <p:nvSpPr>
            <p:cNvPr name="Freeform 28" id="28"/>
            <p:cNvSpPr/>
            <p:nvPr/>
          </p:nvSpPr>
          <p:spPr>
            <a:xfrm flipH="false" flipV="false" rot="0">
              <a:off x="0" y="0"/>
              <a:ext cx="2061461" cy="406400"/>
            </a:xfrm>
            <a:custGeom>
              <a:avLst/>
              <a:gdLst/>
              <a:ahLst/>
              <a:cxnLst/>
              <a:rect r="r" b="b" t="t" l="l"/>
              <a:pathLst>
                <a:path h="406400" w="2061461">
                  <a:moveTo>
                    <a:pt x="1858261" y="0"/>
                  </a:moveTo>
                  <a:cubicBezTo>
                    <a:pt x="1970485" y="0"/>
                    <a:pt x="2061461" y="90976"/>
                    <a:pt x="2061461" y="203200"/>
                  </a:cubicBezTo>
                  <a:cubicBezTo>
                    <a:pt x="2061461" y="315424"/>
                    <a:pt x="1970485" y="406400"/>
                    <a:pt x="1858261"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9" id="29"/>
            <p:cNvSpPr txBox="true"/>
            <p:nvPr/>
          </p:nvSpPr>
          <p:spPr>
            <a:xfrm>
              <a:off x="0" y="-57150"/>
              <a:ext cx="2061461" cy="463550"/>
            </a:xfrm>
            <a:prstGeom prst="rect">
              <a:avLst/>
            </a:prstGeom>
          </p:spPr>
          <p:txBody>
            <a:bodyPr anchor="ctr" rtlCol="false" tIns="50800" lIns="50800" bIns="50800" rIns="50800"/>
            <a:lstStyle/>
            <a:p>
              <a:pPr algn="ctr" marL="0" indent="0" lvl="0">
                <a:lnSpc>
                  <a:spcPts val="2659"/>
                </a:lnSpc>
              </a:pPr>
            </a:p>
          </p:txBody>
        </p:sp>
      </p:grpSp>
      <p:sp>
        <p:nvSpPr>
          <p:cNvPr name="TextBox 30" id="30"/>
          <p:cNvSpPr txBox="true"/>
          <p:nvPr/>
        </p:nvSpPr>
        <p:spPr>
          <a:xfrm rot="0">
            <a:off x="8004648" y="1467359"/>
            <a:ext cx="9254652" cy="754558"/>
          </a:xfrm>
          <a:prstGeom prst="rect">
            <a:avLst/>
          </a:prstGeom>
        </p:spPr>
        <p:txBody>
          <a:bodyPr anchor="t" rtlCol="false" tIns="0" lIns="0" bIns="0" rIns="0">
            <a:spAutoFit/>
          </a:bodyPr>
          <a:lstStyle/>
          <a:p>
            <a:pPr algn="r" marL="0" indent="0" lvl="0">
              <a:lnSpc>
                <a:spcPts val="5586"/>
              </a:lnSpc>
            </a:pPr>
            <a:r>
              <a:rPr lang="en-US" b="true" sz="4943" spc="-207">
                <a:solidFill>
                  <a:srgbClr val="39515A"/>
                </a:solidFill>
                <a:latin typeface="Poppins Semi-Bold"/>
                <a:ea typeface="Poppins Semi-Bold"/>
                <a:cs typeface="Poppins Semi-Bold"/>
                <a:sym typeface="Poppins Semi-Bold"/>
              </a:rPr>
              <a:t>The Live Application (Frontend)</a:t>
            </a:r>
          </a:p>
        </p:txBody>
      </p:sp>
      <p:sp>
        <p:nvSpPr>
          <p:cNvPr name="TextBox 31" id="31"/>
          <p:cNvSpPr txBox="true"/>
          <p:nvPr/>
        </p:nvSpPr>
        <p:spPr>
          <a:xfrm rot="0">
            <a:off x="14260486" y="6812160"/>
            <a:ext cx="2246384" cy="535918"/>
          </a:xfrm>
          <a:prstGeom prst="rect">
            <a:avLst/>
          </a:prstGeom>
        </p:spPr>
        <p:txBody>
          <a:bodyPr anchor="t" rtlCol="false" tIns="0" lIns="0" bIns="0" rIns="0">
            <a:spAutoFit/>
          </a:bodyPr>
          <a:lstStyle/>
          <a:p>
            <a:pPr algn="ctr" marL="0" indent="0" lvl="0">
              <a:lnSpc>
                <a:spcPts val="3952"/>
              </a:lnSpc>
            </a:pPr>
            <a:r>
              <a:rPr lang="en-US" b="true" sz="3497" spc="-146">
                <a:solidFill>
                  <a:srgbClr val="FFFFFF"/>
                </a:solidFill>
                <a:latin typeface="Poppins Semi-Bold"/>
                <a:ea typeface="Poppins Semi-Bold"/>
                <a:cs typeface="Poppins Semi-Bold"/>
                <a:sym typeface="Poppins Semi-Bold"/>
              </a:rPr>
              <a:t>Validation</a:t>
            </a:r>
          </a:p>
        </p:txBody>
      </p:sp>
      <p:sp>
        <p:nvSpPr>
          <p:cNvPr name="TextBox 32" id="32"/>
          <p:cNvSpPr txBox="true"/>
          <p:nvPr/>
        </p:nvSpPr>
        <p:spPr>
          <a:xfrm rot="0">
            <a:off x="14260486" y="7802795"/>
            <a:ext cx="2246384" cy="535918"/>
          </a:xfrm>
          <a:prstGeom prst="rect">
            <a:avLst/>
          </a:prstGeom>
        </p:spPr>
        <p:txBody>
          <a:bodyPr anchor="t" rtlCol="false" tIns="0" lIns="0" bIns="0" rIns="0">
            <a:spAutoFit/>
          </a:bodyPr>
          <a:lstStyle/>
          <a:p>
            <a:pPr algn="ctr" marL="0" indent="0" lvl="0">
              <a:lnSpc>
                <a:spcPts val="3952"/>
              </a:lnSpc>
            </a:pPr>
            <a:r>
              <a:rPr lang="en-US" b="true" sz="3497" spc="-146">
                <a:solidFill>
                  <a:srgbClr val="FFFFFF"/>
                </a:solidFill>
                <a:latin typeface="Poppins Semi-Bold"/>
                <a:ea typeface="Poppins Semi-Bold"/>
                <a:cs typeface="Poppins Semi-Bold"/>
                <a:sym typeface="Poppins Semi-Bold"/>
              </a:rPr>
              <a:t>Submit</a:t>
            </a:r>
          </a:p>
        </p:txBody>
      </p:sp>
      <p:sp>
        <p:nvSpPr>
          <p:cNvPr name="TextBox 33" id="33"/>
          <p:cNvSpPr txBox="true"/>
          <p:nvPr/>
        </p:nvSpPr>
        <p:spPr>
          <a:xfrm rot="0">
            <a:off x="9421142" y="6812160"/>
            <a:ext cx="2771818" cy="535918"/>
          </a:xfrm>
          <a:prstGeom prst="rect">
            <a:avLst/>
          </a:prstGeom>
        </p:spPr>
        <p:txBody>
          <a:bodyPr anchor="t" rtlCol="false" tIns="0" lIns="0" bIns="0" rIns="0">
            <a:spAutoFit/>
          </a:bodyPr>
          <a:lstStyle/>
          <a:p>
            <a:pPr algn="ctr" marL="0" indent="0" lvl="0">
              <a:lnSpc>
                <a:spcPts val="3952"/>
              </a:lnSpc>
            </a:pPr>
            <a:r>
              <a:rPr lang="en-US" b="true" sz="3497" spc="-146">
                <a:solidFill>
                  <a:srgbClr val="FFFFFF"/>
                </a:solidFill>
                <a:latin typeface="Poppins Semi-Bold"/>
                <a:ea typeface="Poppins Semi-Bold"/>
                <a:cs typeface="Poppins Semi-Bold"/>
                <a:sym typeface="Poppins Semi-Bold"/>
              </a:rPr>
              <a:t>Sliders</a:t>
            </a:r>
          </a:p>
        </p:txBody>
      </p:sp>
      <p:sp>
        <p:nvSpPr>
          <p:cNvPr name="TextBox 34" id="34"/>
          <p:cNvSpPr txBox="true"/>
          <p:nvPr/>
        </p:nvSpPr>
        <p:spPr>
          <a:xfrm rot="0">
            <a:off x="8835081" y="7802795"/>
            <a:ext cx="3943940" cy="535918"/>
          </a:xfrm>
          <a:prstGeom prst="rect">
            <a:avLst/>
          </a:prstGeom>
        </p:spPr>
        <p:txBody>
          <a:bodyPr anchor="t" rtlCol="false" tIns="0" lIns="0" bIns="0" rIns="0">
            <a:spAutoFit/>
          </a:bodyPr>
          <a:lstStyle/>
          <a:p>
            <a:pPr algn="ctr" marL="0" indent="0" lvl="0">
              <a:lnSpc>
                <a:spcPts val="3952"/>
              </a:lnSpc>
            </a:pPr>
            <a:r>
              <a:rPr lang="en-US" b="true" sz="3497" spc="-146">
                <a:solidFill>
                  <a:srgbClr val="FFFFFF"/>
                </a:solidFill>
                <a:latin typeface="Poppins Semi-Bold"/>
                <a:ea typeface="Poppins Semi-Bold"/>
                <a:cs typeface="Poppins Semi-Bold"/>
                <a:sym typeface="Poppins Semi-Bold"/>
              </a:rPr>
              <a:t>Display</a:t>
            </a:r>
          </a:p>
        </p:txBody>
      </p:sp>
      <p:grpSp>
        <p:nvGrpSpPr>
          <p:cNvPr name="Group 35" id="35"/>
          <p:cNvGrpSpPr/>
          <p:nvPr/>
        </p:nvGrpSpPr>
        <p:grpSpPr>
          <a:xfrm rot="-1168322">
            <a:off x="7044517" y="6809470"/>
            <a:ext cx="887655" cy="5600547"/>
            <a:chOff x="0" y="0"/>
            <a:chExt cx="233786" cy="1475041"/>
          </a:xfrm>
        </p:grpSpPr>
        <p:sp>
          <p:nvSpPr>
            <p:cNvPr name="Freeform 36" id="36"/>
            <p:cNvSpPr/>
            <p:nvPr/>
          </p:nvSpPr>
          <p:spPr>
            <a:xfrm flipH="false" flipV="false" rot="0">
              <a:off x="0" y="0"/>
              <a:ext cx="233786" cy="1475041"/>
            </a:xfrm>
            <a:custGeom>
              <a:avLst/>
              <a:gdLst/>
              <a:ahLst/>
              <a:cxnLst/>
              <a:rect r="r" b="b" t="t" l="l"/>
              <a:pathLst>
                <a:path h="1475041" w="233786">
                  <a:moveTo>
                    <a:pt x="0" y="0"/>
                  </a:moveTo>
                  <a:lnTo>
                    <a:pt x="233786" y="0"/>
                  </a:lnTo>
                  <a:lnTo>
                    <a:pt x="233786" y="1475041"/>
                  </a:lnTo>
                  <a:lnTo>
                    <a:pt x="0" y="1475041"/>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37" id="37"/>
            <p:cNvSpPr txBox="true"/>
            <p:nvPr/>
          </p:nvSpPr>
          <p:spPr>
            <a:xfrm>
              <a:off x="0" y="-57150"/>
              <a:ext cx="233786" cy="1532191"/>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791053" y="2698390"/>
            <a:ext cx="26364833" cy="7777626"/>
          </a:xfrm>
          <a:custGeom>
            <a:avLst/>
            <a:gdLst/>
            <a:ahLst/>
            <a:cxnLst/>
            <a:rect r="r" b="b" t="t" l="l"/>
            <a:pathLst>
              <a:path h="7777626" w="26364833">
                <a:moveTo>
                  <a:pt x="0" y="0"/>
                </a:moveTo>
                <a:lnTo>
                  <a:pt x="26364834" y="0"/>
                </a:lnTo>
                <a:lnTo>
                  <a:pt x="26364834" y="7777626"/>
                </a:lnTo>
                <a:lnTo>
                  <a:pt x="0" y="7777626"/>
                </a:lnTo>
                <a:lnTo>
                  <a:pt x="0" y="0"/>
                </a:lnTo>
                <a:close/>
              </a:path>
            </a:pathLst>
          </a:custGeom>
          <a:blipFill>
            <a:blip r:embed="rId2">
              <a:alphaModFix amt="6000"/>
            </a:blip>
            <a:stretch>
              <a:fillRect l="0" t="0" r="0" b="0"/>
            </a:stretch>
          </a:blipFill>
        </p:spPr>
      </p:sp>
      <p:grpSp>
        <p:nvGrpSpPr>
          <p:cNvPr name="Group 3" id="3"/>
          <p:cNvGrpSpPr/>
          <p:nvPr/>
        </p:nvGrpSpPr>
        <p:grpSpPr>
          <a:xfrm rot="-862888">
            <a:off x="15827254" y="-3881126"/>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6270710">
            <a:off x="5521749" y="8431425"/>
            <a:ext cx="27208974" cy="374123"/>
          </a:xfrm>
          <a:custGeom>
            <a:avLst/>
            <a:gdLst/>
            <a:ahLst/>
            <a:cxnLst/>
            <a:rect r="r" b="b" t="t" l="l"/>
            <a:pathLst>
              <a:path h="374123" w="27208974">
                <a:moveTo>
                  <a:pt x="0" y="0"/>
                </a:moveTo>
                <a:lnTo>
                  <a:pt x="27208973" y="0"/>
                </a:lnTo>
                <a:lnTo>
                  <a:pt x="27208973" y="374124"/>
                </a:lnTo>
                <a:lnTo>
                  <a:pt x="0" y="374124"/>
                </a:lnTo>
                <a:lnTo>
                  <a:pt x="0" y="0"/>
                </a:lnTo>
                <a:close/>
              </a:path>
            </a:pathLst>
          </a:custGeom>
          <a:blipFill>
            <a:blip r:embed="rId3"/>
            <a:stretch>
              <a:fillRect l="0" t="0" r="0" b="0"/>
            </a:stretch>
          </a:blipFill>
        </p:spPr>
      </p:sp>
      <p:grpSp>
        <p:nvGrpSpPr>
          <p:cNvPr name="Group 7" id="7"/>
          <p:cNvGrpSpPr/>
          <p:nvPr/>
        </p:nvGrpSpPr>
        <p:grpSpPr>
          <a:xfrm rot="-862888">
            <a:off x="18088222" y="-3881126"/>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852149">
            <a:off x="14691038" y="-1970389"/>
            <a:ext cx="887655" cy="5727768"/>
            <a:chOff x="0" y="0"/>
            <a:chExt cx="233786" cy="1508548"/>
          </a:xfrm>
        </p:grpSpPr>
        <p:sp>
          <p:nvSpPr>
            <p:cNvPr name="Freeform 11" id="11"/>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2" id="12"/>
            <p:cNvSpPr txBox="true"/>
            <p:nvPr/>
          </p:nvSpPr>
          <p:spPr>
            <a:xfrm>
              <a:off x="0" y="-57150"/>
              <a:ext cx="233786" cy="15656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28700" y="1534034"/>
            <a:ext cx="7331954" cy="1725543"/>
          </a:xfrm>
          <a:prstGeom prst="rect">
            <a:avLst/>
          </a:prstGeom>
        </p:spPr>
        <p:txBody>
          <a:bodyPr anchor="t" rtlCol="false" tIns="0" lIns="0" bIns="0" rIns="0">
            <a:spAutoFit/>
          </a:bodyPr>
          <a:lstStyle/>
          <a:p>
            <a:pPr algn="l" marL="0" indent="0" lvl="0">
              <a:lnSpc>
                <a:spcPts val="6434"/>
              </a:lnSpc>
            </a:pPr>
            <a:r>
              <a:rPr lang="en-US" b="true" sz="6434" spc="-270">
                <a:solidFill>
                  <a:srgbClr val="39515A"/>
                </a:solidFill>
                <a:latin typeface="Poppins Semi-Bold"/>
                <a:ea typeface="Poppins Semi-Bold"/>
                <a:cs typeface="Poppins Semi-Bold"/>
                <a:sym typeface="Poppins Semi-Bold"/>
              </a:rPr>
              <a:t>Advanced Feature: Decision Support</a:t>
            </a:r>
          </a:p>
        </p:txBody>
      </p:sp>
      <p:sp>
        <p:nvSpPr>
          <p:cNvPr name="TextBox 14" id="14"/>
          <p:cNvSpPr txBox="true"/>
          <p:nvPr/>
        </p:nvSpPr>
        <p:spPr>
          <a:xfrm rot="0">
            <a:off x="8793311" y="3815066"/>
            <a:ext cx="6444909" cy="1999021"/>
          </a:xfrm>
          <a:prstGeom prst="rect">
            <a:avLst/>
          </a:prstGeom>
        </p:spPr>
        <p:txBody>
          <a:bodyPr anchor="t" rtlCol="false" tIns="0" lIns="0" bIns="0" rIns="0">
            <a:spAutoFit/>
          </a:bodyPr>
          <a:lstStyle/>
          <a:p>
            <a:pPr algn="l" marL="0" indent="0" lvl="0">
              <a:lnSpc>
                <a:spcPts val="3217"/>
              </a:lnSpc>
              <a:spcBef>
                <a:spcPct val="0"/>
              </a:spcBef>
            </a:pPr>
            <a:r>
              <a:rPr lang="en-US" sz="2298">
                <a:solidFill>
                  <a:srgbClr val="000000"/>
                </a:solidFill>
                <a:latin typeface="Poppins"/>
                <a:ea typeface="Poppins"/>
                <a:cs typeface="Poppins"/>
                <a:sym typeface="Poppins"/>
              </a:rPr>
              <a:t>Users specify their desired wine quality rating (3-9 scale), and the recommendation engine reverse-engineers the optimal input parameters needed to achieve that target quality level.</a:t>
            </a:r>
          </a:p>
        </p:txBody>
      </p:sp>
      <p:sp>
        <p:nvSpPr>
          <p:cNvPr name="TextBox 15" id="15"/>
          <p:cNvSpPr txBox="true"/>
          <p:nvPr/>
        </p:nvSpPr>
        <p:spPr>
          <a:xfrm rot="0">
            <a:off x="1028700" y="5219163"/>
            <a:ext cx="7331954" cy="2399071"/>
          </a:xfrm>
          <a:prstGeom prst="rect">
            <a:avLst/>
          </a:prstGeom>
        </p:spPr>
        <p:txBody>
          <a:bodyPr anchor="t" rtlCol="false" tIns="0" lIns="0" bIns="0" rIns="0">
            <a:spAutoFit/>
          </a:bodyPr>
          <a:lstStyle/>
          <a:p>
            <a:pPr algn="l" marL="0" indent="0" lvl="0">
              <a:lnSpc>
                <a:spcPts val="3217"/>
              </a:lnSpc>
              <a:spcBef>
                <a:spcPct val="0"/>
              </a:spcBef>
            </a:pPr>
            <a:r>
              <a:rPr lang="en-US" sz="2298">
                <a:solidFill>
                  <a:srgbClr val="000000"/>
                </a:solidFill>
                <a:latin typeface="Poppins"/>
                <a:ea typeface="Poppins"/>
                <a:cs typeface="Poppins"/>
                <a:sym typeface="Poppins"/>
              </a:rPr>
              <a:t>The "Desired Quality Generator" analyzes current wine parameters and recommends specific adjustments to physicochemical features like alcohol content, acidity levels, and sulfur dioxide concentrations to move toward the target quality score.</a:t>
            </a:r>
          </a:p>
        </p:txBody>
      </p:sp>
      <p:sp>
        <p:nvSpPr>
          <p:cNvPr name="TextBox 16" id="16"/>
          <p:cNvSpPr txBox="true"/>
          <p:nvPr/>
        </p:nvSpPr>
        <p:spPr>
          <a:xfrm rot="0">
            <a:off x="8793311" y="7648999"/>
            <a:ext cx="7677160" cy="1598971"/>
          </a:xfrm>
          <a:prstGeom prst="rect">
            <a:avLst/>
          </a:prstGeom>
        </p:spPr>
        <p:txBody>
          <a:bodyPr anchor="t" rtlCol="false" tIns="0" lIns="0" bIns="0" rIns="0">
            <a:spAutoFit/>
          </a:bodyPr>
          <a:lstStyle/>
          <a:p>
            <a:pPr algn="l" marL="0" indent="0" lvl="0">
              <a:lnSpc>
                <a:spcPts val="3217"/>
              </a:lnSpc>
              <a:spcBef>
                <a:spcPct val="0"/>
              </a:spcBef>
            </a:pPr>
            <a:r>
              <a:rPr lang="en-US" sz="2298">
                <a:solidFill>
                  <a:srgbClr val="000000"/>
                </a:solidFill>
                <a:latin typeface="Poppins"/>
                <a:ea typeface="Poppins"/>
                <a:cs typeface="Poppins"/>
                <a:sym typeface="Poppins"/>
              </a:rPr>
              <a:t>Provides actionable, prioritized recommendations ranked by impact and feasibility, helping winemakers understand which parameters to adjust first for maximum quality improvement.</a:t>
            </a:r>
          </a:p>
        </p:txBody>
      </p:sp>
      <p:grpSp>
        <p:nvGrpSpPr>
          <p:cNvPr name="Group 17" id="17"/>
          <p:cNvGrpSpPr/>
          <p:nvPr/>
        </p:nvGrpSpPr>
        <p:grpSpPr>
          <a:xfrm rot="0">
            <a:off x="8793311" y="6395071"/>
            <a:ext cx="5115578" cy="825303"/>
            <a:chOff x="0" y="0"/>
            <a:chExt cx="2519038" cy="406400"/>
          </a:xfrm>
        </p:grpSpPr>
        <p:sp>
          <p:nvSpPr>
            <p:cNvPr name="Freeform 18" id="18"/>
            <p:cNvSpPr/>
            <p:nvPr/>
          </p:nvSpPr>
          <p:spPr>
            <a:xfrm flipH="false" flipV="false" rot="0">
              <a:off x="0" y="0"/>
              <a:ext cx="2519038" cy="406400"/>
            </a:xfrm>
            <a:custGeom>
              <a:avLst/>
              <a:gdLst/>
              <a:ahLst/>
              <a:cxnLst/>
              <a:rect r="r" b="b" t="t" l="l"/>
              <a:pathLst>
                <a:path h="406400" w="2519038">
                  <a:moveTo>
                    <a:pt x="2315838" y="0"/>
                  </a:moveTo>
                  <a:cubicBezTo>
                    <a:pt x="2428062" y="0"/>
                    <a:pt x="2519038" y="90976"/>
                    <a:pt x="2519038" y="203200"/>
                  </a:cubicBezTo>
                  <a:cubicBezTo>
                    <a:pt x="2519038" y="315424"/>
                    <a:pt x="2428062" y="406400"/>
                    <a:pt x="2315838"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19" id="19"/>
            <p:cNvSpPr txBox="true"/>
            <p:nvPr/>
          </p:nvSpPr>
          <p:spPr>
            <a:xfrm>
              <a:off x="0" y="-57150"/>
              <a:ext cx="2519038" cy="463550"/>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1028700" y="4127160"/>
            <a:ext cx="4412511" cy="825303"/>
            <a:chOff x="0" y="0"/>
            <a:chExt cx="2172831" cy="406400"/>
          </a:xfrm>
        </p:grpSpPr>
        <p:sp>
          <p:nvSpPr>
            <p:cNvPr name="Freeform 21" id="21"/>
            <p:cNvSpPr/>
            <p:nvPr/>
          </p:nvSpPr>
          <p:spPr>
            <a:xfrm flipH="false" flipV="false" rot="0">
              <a:off x="0" y="0"/>
              <a:ext cx="2172831" cy="406400"/>
            </a:xfrm>
            <a:custGeom>
              <a:avLst/>
              <a:gdLst/>
              <a:ahLst/>
              <a:cxnLst/>
              <a:rect r="r" b="b" t="t" l="l"/>
              <a:pathLst>
                <a:path h="406400" w="2172831">
                  <a:moveTo>
                    <a:pt x="1969631" y="0"/>
                  </a:moveTo>
                  <a:cubicBezTo>
                    <a:pt x="2081855" y="0"/>
                    <a:pt x="2172831" y="90976"/>
                    <a:pt x="2172831" y="203200"/>
                  </a:cubicBezTo>
                  <a:cubicBezTo>
                    <a:pt x="2172831" y="315424"/>
                    <a:pt x="2081855" y="406400"/>
                    <a:pt x="1969631"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2" id="22"/>
            <p:cNvSpPr txBox="true"/>
            <p:nvPr/>
          </p:nvSpPr>
          <p:spPr>
            <a:xfrm>
              <a:off x="0" y="-57150"/>
              <a:ext cx="2172831" cy="463550"/>
            </a:xfrm>
            <a:prstGeom prst="rect">
              <a:avLst/>
            </a:prstGeom>
          </p:spPr>
          <p:txBody>
            <a:bodyPr anchor="ctr" rtlCol="false" tIns="50800" lIns="50800" bIns="50800" rIns="50800"/>
            <a:lstStyle/>
            <a:p>
              <a:pPr algn="ctr" marL="0" indent="0" lvl="0">
                <a:lnSpc>
                  <a:spcPts val="2659"/>
                </a:lnSpc>
              </a:pPr>
            </a:p>
          </p:txBody>
        </p:sp>
      </p:grpSp>
      <p:grpSp>
        <p:nvGrpSpPr>
          <p:cNvPr name="Group 23" id="23"/>
          <p:cNvGrpSpPr/>
          <p:nvPr/>
        </p:nvGrpSpPr>
        <p:grpSpPr>
          <a:xfrm rot="0">
            <a:off x="8793311" y="2577021"/>
            <a:ext cx="5115578" cy="825303"/>
            <a:chOff x="0" y="0"/>
            <a:chExt cx="2519038" cy="406400"/>
          </a:xfrm>
        </p:grpSpPr>
        <p:sp>
          <p:nvSpPr>
            <p:cNvPr name="Freeform 24" id="24"/>
            <p:cNvSpPr/>
            <p:nvPr/>
          </p:nvSpPr>
          <p:spPr>
            <a:xfrm flipH="false" flipV="false" rot="0">
              <a:off x="0" y="0"/>
              <a:ext cx="2519038" cy="406400"/>
            </a:xfrm>
            <a:custGeom>
              <a:avLst/>
              <a:gdLst/>
              <a:ahLst/>
              <a:cxnLst/>
              <a:rect r="r" b="b" t="t" l="l"/>
              <a:pathLst>
                <a:path h="406400" w="2519038">
                  <a:moveTo>
                    <a:pt x="2315838" y="0"/>
                  </a:moveTo>
                  <a:cubicBezTo>
                    <a:pt x="2428062" y="0"/>
                    <a:pt x="2519038" y="90976"/>
                    <a:pt x="2519038" y="203200"/>
                  </a:cubicBezTo>
                  <a:cubicBezTo>
                    <a:pt x="2519038" y="315424"/>
                    <a:pt x="2428062" y="406400"/>
                    <a:pt x="2315838"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5" id="25"/>
            <p:cNvSpPr txBox="true"/>
            <p:nvPr/>
          </p:nvSpPr>
          <p:spPr>
            <a:xfrm>
              <a:off x="0" y="-57150"/>
              <a:ext cx="2519038" cy="463550"/>
            </a:xfrm>
            <a:prstGeom prst="rect">
              <a:avLst/>
            </a:prstGeom>
          </p:spPr>
          <p:txBody>
            <a:bodyPr anchor="ctr" rtlCol="false" tIns="50800" lIns="50800" bIns="50800" rIns="50800"/>
            <a:lstStyle/>
            <a:p>
              <a:pPr algn="ctr" marL="0" indent="0" lvl="0">
                <a:lnSpc>
                  <a:spcPts val="2659"/>
                </a:lnSpc>
              </a:pPr>
            </a:p>
          </p:txBody>
        </p:sp>
      </p:grpSp>
      <p:sp>
        <p:nvSpPr>
          <p:cNvPr name="TextBox 26" id="26"/>
          <p:cNvSpPr txBox="true"/>
          <p:nvPr/>
        </p:nvSpPr>
        <p:spPr>
          <a:xfrm rot="0">
            <a:off x="9223229" y="6504193"/>
            <a:ext cx="4255740" cy="435245"/>
          </a:xfrm>
          <a:prstGeom prst="rect">
            <a:avLst/>
          </a:prstGeom>
        </p:spPr>
        <p:txBody>
          <a:bodyPr anchor="t" rtlCol="false" tIns="0" lIns="0" bIns="0" rIns="0">
            <a:spAutoFit/>
          </a:bodyPr>
          <a:lstStyle/>
          <a:p>
            <a:pPr algn="ctr" marL="0" indent="0" lvl="0">
              <a:lnSpc>
                <a:spcPts val="3262"/>
              </a:lnSpc>
            </a:pPr>
            <a:r>
              <a:rPr lang="en-US" b="true" sz="2887" spc="-121">
                <a:solidFill>
                  <a:srgbClr val="FFFFFF"/>
                </a:solidFill>
                <a:latin typeface="Poppins Semi-Bold"/>
                <a:ea typeface="Poppins Semi-Bold"/>
                <a:cs typeface="Poppins Semi-Bold"/>
                <a:sym typeface="Poppins Semi-Bold"/>
              </a:rPr>
              <a:t>Optimization Guidance</a:t>
            </a:r>
          </a:p>
        </p:txBody>
      </p:sp>
      <p:sp>
        <p:nvSpPr>
          <p:cNvPr name="TextBox 27" id="27"/>
          <p:cNvSpPr txBox="true"/>
          <p:nvPr/>
        </p:nvSpPr>
        <p:spPr>
          <a:xfrm rot="0">
            <a:off x="1458619" y="4236282"/>
            <a:ext cx="3552673" cy="435245"/>
          </a:xfrm>
          <a:prstGeom prst="rect">
            <a:avLst/>
          </a:prstGeom>
        </p:spPr>
        <p:txBody>
          <a:bodyPr anchor="t" rtlCol="false" tIns="0" lIns="0" bIns="0" rIns="0">
            <a:spAutoFit/>
          </a:bodyPr>
          <a:lstStyle/>
          <a:p>
            <a:pPr algn="ctr" marL="0" indent="0" lvl="0">
              <a:lnSpc>
                <a:spcPts val="3262"/>
              </a:lnSpc>
            </a:pPr>
            <a:r>
              <a:rPr lang="en-US" b="true" sz="2887" spc="-121">
                <a:solidFill>
                  <a:srgbClr val="FFFFFF"/>
                </a:solidFill>
                <a:latin typeface="Poppins Semi-Bold"/>
                <a:ea typeface="Poppins Semi-Bold"/>
                <a:cs typeface="Poppins Semi-Bold"/>
                <a:sym typeface="Poppins Semi-Bold"/>
              </a:rPr>
              <a:t>Feature Suggestions</a:t>
            </a:r>
          </a:p>
        </p:txBody>
      </p:sp>
      <p:sp>
        <p:nvSpPr>
          <p:cNvPr name="TextBox 28" id="28"/>
          <p:cNvSpPr txBox="true"/>
          <p:nvPr/>
        </p:nvSpPr>
        <p:spPr>
          <a:xfrm rot="0">
            <a:off x="9066459" y="2686143"/>
            <a:ext cx="4412511" cy="435245"/>
          </a:xfrm>
          <a:prstGeom prst="rect">
            <a:avLst/>
          </a:prstGeom>
        </p:spPr>
        <p:txBody>
          <a:bodyPr anchor="t" rtlCol="false" tIns="0" lIns="0" bIns="0" rIns="0">
            <a:spAutoFit/>
          </a:bodyPr>
          <a:lstStyle/>
          <a:p>
            <a:pPr algn="ctr" marL="0" indent="0" lvl="0">
              <a:lnSpc>
                <a:spcPts val="3262"/>
              </a:lnSpc>
            </a:pPr>
            <a:r>
              <a:rPr lang="en-US" b="true" sz="2887" spc="-121">
                <a:solidFill>
                  <a:srgbClr val="FFFFFF"/>
                </a:solidFill>
                <a:latin typeface="Poppins Semi-Bold"/>
                <a:ea typeface="Poppins Semi-Bold"/>
                <a:cs typeface="Poppins Semi-Bold"/>
                <a:sym typeface="Poppins Semi-Bold"/>
              </a:rPr>
              <a:t>Target Quality Selection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4581" y="6464393"/>
            <a:ext cx="25799834" cy="4450471"/>
          </a:xfrm>
          <a:custGeom>
            <a:avLst/>
            <a:gdLst/>
            <a:ahLst/>
            <a:cxnLst/>
            <a:rect r="r" b="b" t="t" l="l"/>
            <a:pathLst>
              <a:path h="4450471" w="25799834">
                <a:moveTo>
                  <a:pt x="0" y="0"/>
                </a:moveTo>
                <a:lnTo>
                  <a:pt x="25799835" y="0"/>
                </a:lnTo>
                <a:lnTo>
                  <a:pt x="25799835" y="4450472"/>
                </a:lnTo>
                <a:lnTo>
                  <a:pt x="0" y="4450472"/>
                </a:lnTo>
                <a:lnTo>
                  <a:pt x="0" y="0"/>
                </a:lnTo>
                <a:close/>
              </a:path>
            </a:pathLst>
          </a:custGeom>
          <a:blipFill>
            <a:blip r:embed="rId2">
              <a:alphaModFix amt="6000"/>
            </a:blip>
            <a:stretch>
              <a:fillRect l="0" t="0" r="0" b="0"/>
            </a:stretch>
          </a:blipFill>
        </p:spPr>
      </p:sp>
      <p:grpSp>
        <p:nvGrpSpPr>
          <p:cNvPr name="Group 3" id="3"/>
          <p:cNvGrpSpPr/>
          <p:nvPr/>
        </p:nvGrpSpPr>
        <p:grpSpPr>
          <a:xfrm rot="-862888">
            <a:off x="16254490" y="-3881126"/>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true" rot="-6270710">
            <a:off x="11882298" y="4514251"/>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3"/>
            <a:stretch>
              <a:fillRect l="0" t="-1843398" r="0" b="0"/>
            </a:stretch>
          </a:blipFill>
        </p:spPr>
      </p:sp>
      <p:grpSp>
        <p:nvGrpSpPr>
          <p:cNvPr name="Group 7" id="7"/>
          <p:cNvGrpSpPr/>
          <p:nvPr/>
        </p:nvGrpSpPr>
        <p:grpSpPr>
          <a:xfrm rot="-862888">
            <a:off x="18515459" y="-3881126"/>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852149">
            <a:off x="15118274" y="-1970389"/>
            <a:ext cx="887655" cy="5727768"/>
            <a:chOff x="0" y="0"/>
            <a:chExt cx="233786" cy="1508548"/>
          </a:xfrm>
        </p:grpSpPr>
        <p:sp>
          <p:nvSpPr>
            <p:cNvPr name="Freeform 11" id="11"/>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2" id="12"/>
            <p:cNvSpPr txBox="true"/>
            <p:nvPr/>
          </p:nvSpPr>
          <p:spPr>
            <a:xfrm>
              <a:off x="0" y="-57150"/>
              <a:ext cx="233786" cy="156569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1168322">
            <a:off x="-5434054" y="-1840415"/>
            <a:ext cx="7434779" cy="15382828"/>
            <a:chOff x="0" y="0"/>
            <a:chExt cx="1958131" cy="4051444"/>
          </a:xfrm>
        </p:grpSpPr>
        <p:sp>
          <p:nvSpPr>
            <p:cNvPr name="Freeform 14" id="1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15" id="15"/>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6" id="16"/>
          <p:cNvSpPr/>
          <p:nvPr/>
        </p:nvSpPr>
        <p:spPr>
          <a:xfrm flipH="false" flipV="false" rot="-6579275">
            <a:off x="-7236467" y="4649456"/>
            <a:ext cx="13353097" cy="404258"/>
          </a:xfrm>
          <a:custGeom>
            <a:avLst/>
            <a:gdLst/>
            <a:ahLst/>
            <a:cxnLst/>
            <a:rect r="r" b="b" t="t" l="l"/>
            <a:pathLst>
              <a:path h="404258" w="13353097">
                <a:moveTo>
                  <a:pt x="0" y="0"/>
                </a:moveTo>
                <a:lnTo>
                  <a:pt x="13353096" y="0"/>
                </a:lnTo>
                <a:lnTo>
                  <a:pt x="13353096" y="404258"/>
                </a:lnTo>
                <a:lnTo>
                  <a:pt x="0" y="404258"/>
                </a:lnTo>
                <a:lnTo>
                  <a:pt x="0" y="0"/>
                </a:lnTo>
                <a:close/>
              </a:path>
            </a:pathLst>
          </a:custGeom>
          <a:blipFill>
            <a:blip r:embed="rId3"/>
            <a:stretch>
              <a:fillRect l="0" t="-1843398" r="0" b="0"/>
            </a:stretch>
          </a:blipFill>
        </p:spPr>
      </p:sp>
      <p:grpSp>
        <p:nvGrpSpPr>
          <p:cNvPr name="Group 17" id="17"/>
          <p:cNvGrpSpPr/>
          <p:nvPr/>
        </p:nvGrpSpPr>
        <p:grpSpPr>
          <a:xfrm rot="-1168322">
            <a:off x="-7993264" y="-1840415"/>
            <a:ext cx="7434779" cy="15382828"/>
            <a:chOff x="0" y="0"/>
            <a:chExt cx="1958131" cy="4051444"/>
          </a:xfrm>
        </p:grpSpPr>
        <p:sp>
          <p:nvSpPr>
            <p:cNvPr name="Freeform 18" id="1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19" id="19"/>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1168322">
            <a:off x="225069" y="-2545098"/>
            <a:ext cx="887655" cy="8696949"/>
            <a:chOff x="0" y="0"/>
            <a:chExt cx="233786" cy="2290554"/>
          </a:xfrm>
        </p:grpSpPr>
        <p:sp>
          <p:nvSpPr>
            <p:cNvPr name="Freeform 21" id="21"/>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22" id="22"/>
            <p:cNvSpPr txBox="true"/>
            <p:nvPr/>
          </p:nvSpPr>
          <p:spPr>
            <a:xfrm>
              <a:off x="0" y="-57150"/>
              <a:ext cx="233786" cy="23477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3" id="23"/>
          <p:cNvGrpSpPr/>
          <p:nvPr/>
        </p:nvGrpSpPr>
        <p:grpSpPr>
          <a:xfrm rot="0">
            <a:off x="3025579" y="5438347"/>
            <a:ext cx="6118421" cy="825303"/>
            <a:chOff x="0" y="0"/>
            <a:chExt cx="3012863" cy="406400"/>
          </a:xfrm>
        </p:grpSpPr>
        <p:sp>
          <p:nvSpPr>
            <p:cNvPr name="Freeform 24" id="24"/>
            <p:cNvSpPr/>
            <p:nvPr/>
          </p:nvSpPr>
          <p:spPr>
            <a:xfrm flipH="false" flipV="false" rot="0">
              <a:off x="0" y="0"/>
              <a:ext cx="3012863" cy="406400"/>
            </a:xfrm>
            <a:custGeom>
              <a:avLst/>
              <a:gdLst/>
              <a:ahLst/>
              <a:cxnLst/>
              <a:rect r="r" b="b" t="t" l="l"/>
              <a:pathLst>
                <a:path h="406400" w="3012863">
                  <a:moveTo>
                    <a:pt x="2809663" y="0"/>
                  </a:moveTo>
                  <a:cubicBezTo>
                    <a:pt x="2921888" y="0"/>
                    <a:pt x="3012863" y="90976"/>
                    <a:pt x="3012863" y="203200"/>
                  </a:cubicBezTo>
                  <a:cubicBezTo>
                    <a:pt x="3012863" y="315424"/>
                    <a:pt x="2921888" y="406400"/>
                    <a:pt x="2809663"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5" id="25"/>
            <p:cNvSpPr txBox="true"/>
            <p:nvPr/>
          </p:nvSpPr>
          <p:spPr>
            <a:xfrm>
              <a:off x="0" y="-57150"/>
              <a:ext cx="3012863" cy="463550"/>
            </a:xfrm>
            <a:prstGeom prst="rect">
              <a:avLst/>
            </a:prstGeom>
          </p:spPr>
          <p:txBody>
            <a:bodyPr anchor="ctr" rtlCol="false" tIns="50800" lIns="50800" bIns="50800" rIns="50800"/>
            <a:lstStyle/>
            <a:p>
              <a:pPr algn="ctr" marL="0" indent="0" lvl="0">
                <a:lnSpc>
                  <a:spcPts val="2659"/>
                </a:lnSpc>
              </a:pPr>
            </a:p>
          </p:txBody>
        </p:sp>
      </p:grpSp>
      <p:grpSp>
        <p:nvGrpSpPr>
          <p:cNvPr name="Group 26" id="26"/>
          <p:cNvGrpSpPr/>
          <p:nvPr/>
        </p:nvGrpSpPr>
        <p:grpSpPr>
          <a:xfrm rot="0">
            <a:off x="3025579" y="6817440"/>
            <a:ext cx="6118421" cy="825303"/>
            <a:chOff x="0" y="0"/>
            <a:chExt cx="3012863" cy="406400"/>
          </a:xfrm>
        </p:grpSpPr>
        <p:sp>
          <p:nvSpPr>
            <p:cNvPr name="Freeform 27" id="27"/>
            <p:cNvSpPr/>
            <p:nvPr/>
          </p:nvSpPr>
          <p:spPr>
            <a:xfrm flipH="false" flipV="false" rot="0">
              <a:off x="0" y="0"/>
              <a:ext cx="3012863" cy="406400"/>
            </a:xfrm>
            <a:custGeom>
              <a:avLst/>
              <a:gdLst/>
              <a:ahLst/>
              <a:cxnLst/>
              <a:rect r="r" b="b" t="t" l="l"/>
              <a:pathLst>
                <a:path h="406400" w="3012863">
                  <a:moveTo>
                    <a:pt x="2809663" y="0"/>
                  </a:moveTo>
                  <a:cubicBezTo>
                    <a:pt x="2921888" y="0"/>
                    <a:pt x="3012863" y="90976"/>
                    <a:pt x="3012863" y="203200"/>
                  </a:cubicBezTo>
                  <a:cubicBezTo>
                    <a:pt x="3012863" y="315424"/>
                    <a:pt x="2921888" y="406400"/>
                    <a:pt x="2809663"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28" id="28"/>
            <p:cNvSpPr txBox="true"/>
            <p:nvPr/>
          </p:nvSpPr>
          <p:spPr>
            <a:xfrm>
              <a:off x="0" y="-57150"/>
              <a:ext cx="3012863" cy="463550"/>
            </a:xfrm>
            <a:prstGeom prst="rect">
              <a:avLst/>
            </a:prstGeom>
          </p:spPr>
          <p:txBody>
            <a:bodyPr anchor="ctr" rtlCol="false" tIns="50800" lIns="50800" bIns="50800" rIns="50800"/>
            <a:lstStyle/>
            <a:p>
              <a:pPr algn="ctr" marL="0" indent="0" lvl="0">
                <a:lnSpc>
                  <a:spcPts val="2659"/>
                </a:lnSpc>
              </a:pPr>
            </a:p>
          </p:txBody>
        </p:sp>
      </p:grpSp>
      <p:grpSp>
        <p:nvGrpSpPr>
          <p:cNvPr name="Group 29" id="29"/>
          <p:cNvGrpSpPr/>
          <p:nvPr/>
        </p:nvGrpSpPr>
        <p:grpSpPr>
          <a:xfrm rot="0">
            <a:off x="9430507" y="5438347"/>
            <a:ext cx="5831914" cy="825303"/>
            <a:chOff x="0" y="0"/>
            <a:chExt cx="2871780" cy="406400"/>
          </a:xfrm>
        </p:grpSpPr>
        <p:sp>
          <p:nvSpPr>
            <p:cNvPr name="Freeform 30" id="30"/>
            <p:cNvSpPr/>
            <p:nvPr/>
          </p:nvSpPr>
          <p:spPr>
            <a:xfrm flipH="false" flipV="false" rot="0">
              <a:off x="0" y="0"/>
              <a:ext cx="2871780" cy="406400"/>
            </a:xfrm>
            <a:custGeom>
              <a:avLst/>
              <a:gdLst/>
              <a:ahLst/>
              <a:cxnLst/>
              <a:rect r="r" b="b" t="t" l="l"/>
              <a:pathLst>
                <a:path h="406400" w="2871780">
                  <a:moveTo>
                    <a:pt x="2668580" y="0"/>
                  </a:moveTo>
                  <a:cubicBezTo>
                    <a:pt x="2780804" y="0"/>
                    <a:pt x="2871780" y="90976"/>
                    <a:pt x="2871780" y="203200"/>
                  </a:cubicBezTo>
                  <a:cubicBezTo>
                    <a:pt x="2871780" y="315424"/>
                    <a:pt x="2780804" y="406400"/>
                    <a:pt x="2668580"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31" id="31"/>
            <p:cNvSpPr txBox="true"/>
            <p:nvPr/>
          </p:nvSpPr>
          <p:spPr>
            <a:xfrm>
              <a:off x="0" y="-57150"/>
              <a:ext cx="2871780" cy="463550"/>
            </a:xfrm>
            <a:prstGeom prst="rect">
              <a:avLst/>
            </a:prstGeom>
          </p:spPr>
          <p:txBody>
            <a:bodyPr anchor="ctr" rtlCol="false" tIns="50800" lIns="50800" bIns="50800" rIns="50800"/>
            <a:lstStyle/>
            <a:p>
              <a:pPr algn="ctr" marL="0" indent="0" lvl="0">
                <a:lnSpc>
                  <a:spcPts val="2659"/>
                </a:lnSpc>
              </a:pPr>
            </a:p>
          </p:txBody>
        </p:sp>
      </p:grpSp>
      <p:grpSp>
        <p:nvGrpSpPr>
          <p:cNvPr name="Group 32" id="32"/>
          <p:cNvGrpSpPr/>
          <p:nvPr/>
        </p:nvGrpSpPr>
        <p:grpSpPr>
          <a:xfrm rot="0">
            <a:off x="9430507" y="6817440"/>
            <a:ext cx="5831914" cy="825303"/>
            <a:chOff x="0" y="0"/>
            <a:chExt cx="2871780" cy="406400"/>
          </a:xfrm>
        </p:grpSpPr>
        <p:sp>
          <p:nvSpPr>
            <p:cNvPr name="Freeform 33" id="33"/>
            <p:cNvSpPr/>
            <p:nvPr/>
          </p:nvSpPr>
          <p:spPr>
            <a:xfrm flipH="false" flipV="false" rot="0">
              <a:off x="0" y="0"/>
              <a:ext cx="2871780" cy="406400"/>
            </a:xfrm>
            <a:custGeom>
              <a:avLst/>
              <a:gdLst/>
              <a:ahLst/>
              <a:cxnLst/>
              <a:rect r="r" b="b" t="t" l="l"/>
              <a:pathLst>
                <a:path h="406400" w="2871780">
                  <a:moveTo>
                    <a:pt x="2668580" y="0"/>
                  </a:moveTo>
                  <a:cubicBezTo>
                    <a:pt x="2780804" y="0"/>
                    <a:pt x="2871780" y="90976"/>
                    <a:pt x="2871780" y="203200"/>
                  </a:cubicBezTo>
                  <a:cubicBezTo>
                    <a:pt x="2871780" y="315424"/>
                    <a:pt x="2780804" y="406400"/>
                    <a:pt x="2668580"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34" id="34"/>
            <p:cNvSpPr txBox="true"/>
            <p:nvPr/>
          </p:nvSpPr>
          <p:spPr>
            <a:xfrm>
              <a:off x="0" y="-57150"/>
              <a:ext cx="2871780" cy="463550"/>
            </a:xfrm>
            <a:prstGeom prst="rect">
              <a:avLst/>
            </a:prstGeom>
          </p:spPr>
          <p:txBody>
            <a:bodyPr anchor="ctr" rtlCol="false" tIns="50800" lIns="50800" bIns="50800" rIns="50800"/>
            <a:lstStyle/>
            <a:p>
              <a:pPr algn="ctr" marL="0" indent="0" lvl="0">
                <a:lnSpc>
                  <a:spcPts val="2659"/>
                </a:lnSpc>
              </a:pPr>
            </a:p>
          </p:txBody>
        </p:sp>
      </p:grpSp>
      <p:sp>
        <p:nvSpPr>
          <p:cNvPr name="Freeform 35" id="35"/>
          <p:cNvSpPr/>
          <p:nvPr/>
        </p:nvSpPr>
        <p:spPr>
          <a:xfrm flipH="false" flipV="false" rot="0">
            <a:off x="3205772" y="5589989"/>
            <a:ext cx="553436" cy="549889"/>
          </a:xfrm>
          <a:custGeom>
            <a:avLst/>
            <a:gdLst/>
            <a:ahLst/>
            <a:cxnLst/>
            <a:rect r="r" b="b" t="t" l="l"/>
            <a:pathLst>
              <a:path h="549889" w="553436">
                <a:moveTo>
                  <a:pt x="0" y="0"/>
                </a:moveTo>
                <a:lnTo>
                  <a:pt x="553436" y="0"/>
                </a:lnTo>
                <a:lnTo>
                  <a:pt x="553436" y="549889"/>
                </a:lnTo>
                <a:lnTo>
                  <a:pt x="0" y="549889"/>
                </a:lnTo>
                <a:lnTo>
                  <a:pt x="0" y="0"/>
                </a:lnTo>
                <a:close/>
              </a:path>
            </a:pathLst>
          </a:custGeom>
          <a:blipFill>
            <a:blip r:embed="rId4"/>
            <a:stretch>
              <a:fillRect l="0" t="0" r="0" b="0"/>
            </a:stretch>
          </a:blipFill>
        </p:spPr>
      </p:sp>
      <p:sp>
        <p:nvSpPr>
          <p:cNvPr name="Freeform 36" id="36"/>
          <p:cNvSpPr/>
          <p:nvPr/>
        </p:nvSpPr>
        <p:spPr>
          <a:xfrm flipH="false" flipV="false" rot="0">
            <a:off x="3200344" y="6962453"/>
            <a:ext cx="588177" cy="516922"/>
          </a:xfrm>
          <a:custGeom>
            <a:avLst/>
            <a:gdLst/>
            <a:ahLst/>
            <a:cxnLst/>
            <a:rect r="r" b="b" t="t" l="l"/>
            <a:pathLst>
              <a:path h="516922" w="588177">
                <a:moveTo>
                  <a:pt x="0" y="0"/>
                </a:moveTo>
                <a:lnTo>
                  <a:pt x="588177" y="0"/>
                </a:lnTo>
                <a:lnTo>
                  <a:pt x="588177" y="516923"/>
                </a:lnTo>
                <a:lnTo>
                  <a:pt x="0" y="516923"/>
                </a:lnTo>
                <a:lnTo>
                  <a:pt x="0" y="0"/>
                </a:lnTo>
                <a:close/>
              </a:path>
            </a:pathLst>
          </a:custGeom>
          <a:blipFill>
            <a:blip r:embed="rId5"/>
            <a:stretch>
              <a:fillRect l="0" t="0" r="0" b="0"/>
            </a:stretch>
          </a:blipFill>
        </p:spPr>
      </p:sp>
      <p:sp>
        <p:nvSpPr>
          <p:cNvPr name="Freeform 37" id="37"/>
          <p:cNvSpPr/>
          <p:nvPr/>
        </p:nvSpPr>
        <p:spPr>
          <a:xfrm flipH="false" flipV="false" rot="0">
            <a:off x="9580193" y="6919096"/>
            <a:ext cx="675690" cy="452259"/>
          </a:xfrm>
          <a:custGeom>
            <a:avLst/>
            <a:gdLst/>
            <a:ahLst/>
            <a:cxnLst/>
            <a:rect r="r" b="b" t="t" l="l"/>
            <a:pathLst>
              <a:path h="452259" w="675690">
                <a:moveTo>
                  <a:pt x="0" y="0"/>
                </a:moveTo>
                <a:lnTo>
                  <a:pt x="675690" y="0"/>
                </a:lnTo>
                <a:lnTo>
                  <a:pt x="675690" y="452258"/>
                </a:lnTo>
                <a:lnTo>
                  <a:pt x="0" y="452258"/>
                </a:lnTo>
                <a:lnTo>
                  <a:pt x="0" y="0"/>
                </a:lnTo>
                <a:close/>
              </a:path>
            </a:pathLst>
          </a:custGeom>
          <a:blipFill>
            <a:blip r:embed="rId6"/>
            <a:stretch>
              <a:fillRect l="0" t="0" r="0" b="0"/>
            </a:stretch>
          </a:blipFill>
        </p:spPr>
      </p:sp>
      <p:sp>
        <p:nvSpPr>
          <p:cNvPr name="TextBox 38" id="38"/>
          <p:cNvSpPr txBox="true"/>
          <p:nvPr/>
        </p:nvSpPr>
        <p:spPr>
          <a:xfrm rot="0">
            <a:off x="4048100" y="1457834"/>
            <a:ext cx="10191800" cy="1152478"/>
          </a:xfrm>
          <a:prstGeom prst="rect">
            <a:avLst/>
          </a:prstGeom>
        </p:spPr>
        <p:txBody>
          <a:bodyPr anchor="t" rtlCol="false" tIns="0" lIns="0" bIns="0" rIns="0">
            <a:spAutoFit/>
          </a:bodyPr>
          <a:lstStyle/>
          <a:p>
            <a:pPr algn="ctr" marL="0" indent="0" lvl="0">
              <a:lnSpc>
                <a:spcPts val="8469"/>
              </a:lnSpc>
            </a:pPr>
            <a:r>
              <a:rPr lang="en-US" b="true" sz="7494" spc="-314">
                <a:solidFill>
                  <a:srgbClr val="39515A"/>
                </a:solidFill>
                <a:latin typeface="Poppins Semi-Bold"/>
                <a:ea typeface="Poppins Semi-Bold"/>
                <a:cs typeface="Poppins Semi-Bold"/>
                <a:sym typeface="Poppins Semi-Bold"/>
              </a:rPr>
              <a:t>Deployment &amp; MLOps</a:t>
            </a:r>
          </a:p>
        </p:txBody>
      </p:sp>
      <p:sp>
        <p:nvSpPr>
          <p:cNvPr name="TextBox 39" id="39"/>
          <p:cNvSpPr txBox="true"/>
          <p:nvPr/>
        </p:nvSpPr>
        <p:spPr>
          <a:xfrm rot="0">
            <a:off x="3312086" y="2852605"/>
            <a:ext cx="11663828" cy="1999021"/>
          </a:xfrm>
          <a:prstGeom prst="rect">
            <a:avLst/>
          </a:prstGeom>
        </p:spPr>
        <p:txBody>
          <a:bodyPr anchor="t" rtlCol="false" tIns="0" lIns="0" bIns="0" rIns="0">
            <a:spAutoFit/>
          </a:bodyPr>
          <a:lstStyle/>
          <a:p>
            <a:pPr algn="ctr" marL="0" indent="0" lvl="0">
              <a:lnSpc>
                <a:spcPts val="3217"/>
              </a:lnSpc>
              <a:spcBef>
                <a:spcPct val="0"/>
              </a:spcBef>
            </a:pPr>
            <a:r>
              <a:rPr lang="en-US" sz="2298">
                <a:solidFill>
                  <a:srgbClr val="000000"/>
                </a:solidFill>
                <a:latin typeface="Poppins"/>
                <a:ea typeface="Poppins"/>
                <a:cs typeface="Poppins"/>
                <a:sym typeface="Poppins"/>
              </a:rPr>
              <a:t>Our production pipeline transforms notebook experiments into a robust, maintainable system. The build_model.py script orchestrates training and serializes models using .joblib packaging for efficient loading. Backend restructuring separates concerns into modular components, enabling seamless updates and version control.</a:t>
            </a:r>
          </a:p>
        </p:txBody>
      </p:sp>
      <p:sp>
        <p:nvSpPr>
          <p:cNvPr name="TextBox 40" id="40"/>
          <p:cNvSpPr txBox="true"/>
          <p:nvPr/>
        </p:nvSpPr>
        <p:spPr>
          <a:xfrm rot="0">
            <a:off x="3978238" y="5649881"/>
            <a:ext cx="4678730" cy="455276"/>
          </a:xfrm>
          <a:prstGeom prst="rect">
            <a:avLst/>
          </a:prstGeom>
        </p:spPr>
        <p:txBody>
          <a:bodyPr anchor="t" rtlCol="false" tIns="0" lIns="0" bIns="0" rIns="0">
            <a:spAutoFit/>
          </a:bodyPr>
          <a:lstStyle/>
          <a:p>
            <a:pPr algn="l" marL="0" indent="0" lvl="0">
              <a:lnSpc>
                <a:spcPts val="3387"/>
              </a:lnSpc>
            </a:pPr>
            <a:r>
              <a:rPr lang="en-US" b="true" sz="2997">
                <a:solidFill>
                  <a:srgbClr val="FFFFFF"/>
                </a:solidFill>
                <a:latin typeface="Poppins Semi-Bold"/>
                <a:ea typeface="Poppins Semi-Bold"/>
                <a:cs typeface="Poppins Semi-Bold"/>
                <a:sym typeface="Poppins Semi-Bold"/>
              </a:rPr>
              <a:t>build_model.py</a:t>
            </a:r>
          </a:p>
        </p:txBody>
      </p:sp>
      <p:sp>
        <p:nvSpPr>
          <p:cNvPr name="TextBox 41" id="41"/>
          <p:cNvSpPr txBox="true"/>
          <p:nvPr/>
        </p:nvSpPr>
        <p:spPr>
          <a:xfrm rot="0">
            <a:off x="3978238" y="7022442"/>
            <a:ext cx="5001420" cy="455276"/>
          </a:xfrm>
          <a:prstGeom prst="rect">
            <a:avLst/>
          </a:prstGeom>
        </p:spPr>
        <p:txBody>
          <a:bodyPr anchor="t" rtlCol="false" tIns="0" lIns="0" bIns="0" rIns="0">
            <a:spAutoFit/>
          </a:bodyPr>
          <a:lstStyle/>
          <a:p>
            <a:pPr algn="l" marL="0" indent="0" lvl="0">
              <a:lnSpc>
                <a:spcPts val="3387"/>
              </a:lnSpc>
            </a:pPr>
            <a:r>
              <a:rPr lang="en-US" b="true" sz="2997" spc="-125">
                <a:solidFill>
                  <a:srgbClr val="FFFFFF"/>
                </a:solidFill>
                <a:latin typeface="Poppins Semi-Bold"/>
                <a:ea typeface="Poppins Semi-Bold"/>
                <a:cs typeface="Poppins Semi-Bold"/>
                <a:sym typeface="Poppins Semi-Bold"/>
              </a:rPr>
              <a:t>.joblib Packaging</a:t>
            </a:r>
          </a:p>
        </p:txBody>
      </p:sp>
      <p:sp>
        <p:nvSpPr>
          <p:cNvPr name="TextBox 42" id="42"/>
          <p:cNvSpPr txBox="true"/>
          <p:nvPr/>
        </p:nvSpPr>
        <p:spPr>
          <a:xfrm rot="0">
            <a:off x="10280427" y="5623351"/>
            <a:ext cx="4695487" cy="455276"/>
          </a:xfrm>
          <a:prstGeom prst="rect">
            <a:avLst/>
          </a:prstGeom>
        </p:spPr>
        <p:txBody>
          <a:bodyPr anchor="t" rtlCol="false" tIns="0" lIns="0" bIns="0" rIns="0">
            <a:spAutoFit/>
          </a:bodyPr>
          <a:lstStyle/>
          <a:p>
            <a:pPr algn="l" marL="0" indent="0" lvl="0">
              <a:lnSpc>
                <a:spcPts val="3387"/>
              </a:lnSpc>
            </a:pPr>
            <a:r>
              <a:rPr lang="en-US" b="true" sz="2997" spc="-125">
                <a:solidFill>
                  <a:srgbClr val="FFFFFF"/>
                </a:solidFill>
                <a:latin typeface="Poppins Semi-Bold"/>
                <a:ea typeface="Poppins Semi-Bold"/>
                <a:cs typeface="Poppins Semi-Bold"/>
                <a:sym typeface="Poppins Semi-Bold"/>
              </a:rPr>
              <a:t>Backend Restructure</a:t>
            </a:r>
          </a:p>
        </p:txBody>
      </p:sp>
      <p:sp>
        <p:nvSpPr>
          <p:cNvPr name="TextBox 43" id="43"/>
          <p:cNvSpPr txBox="true"/>
          <p:nvPr/>
        </p:nvSpPr>
        <p:spPr>
          <a:xfrm rot="0">
            <a:off x="10373989" y="6993276"/>
            <a:ext cx="4888432" cy="455276"/>
          </a:xfrm>
          <a:prstGeom prst="rect">
            <a:avLst/>
          </a:prstGeom>
        </p:spPr>
        <p:txBody>
          <a:bodyPr anchor="t" rtlCol="false" tIns="0" lIns="0" bIns="0" rIns="0">
            <a:spAutoFit/>
          </a:bodyPr>
          <a:lstStyle/>
          <a:p>
            <a:pPr algn="l" marL="0" indent="0" lvl="0">
              <a:lnSpc>
                <a:spcPts val="3387"/>
              </a:lnSpc>
            </a:pPr>
            <a:r>
              <a:rPr lang="en-US" b="true" sz="2997" spc="-125">
                <a:solidFill>
                  <a:srgbClr val="FFFFFF"/>
                </a:solidFill>
                <a:latin typeface="Poppins Semi-Bold"/>
                <a:ea typeface="Poppins Semi-Bold"/>
                <a:cs typeface="Poppins Semi-Bold"/>
                <a:sym typeface="Poppins Semi-Bold"/>
              </a:rPr>
              <a:t>Live on Render</a:t>
            </a:r>
          </a:p>
        </p:txBody>
      </p:sp>
      <p:sp>
        <p:nvSpPr>
          <p:cNvPr name="Freeform 44" id="44"/>
          <p:cNvSpPr/>
          <p:nvPr/>
        </p:nvSpPr>
        <p:spPr>
          <a:xfrm flipH="false" flipV="false" rot="0">
            <a:off x="9609521" y="5567384"/>
            <a:ext cx="551689" cy="551689"/>
          </a:xfrm>
          <a:custGeom>
            <a:avLst/>
            <a:gdLst/>
            <a:ahLst/>
            <a:cxnLst/>
            <a:rect r="r" b="b" t="t" l="l"/>
            <a:pathLst>
              <a:path h="551689" w="551689">
                <a:moveTo>
                  <a:pt x="0" y="0"/>
                </a:moveTo>
                <a:lnTo>
                  <a:pt x="551689" y="0"/>
                </a:lnTo>
                <a:lnTo>
                  <a:pt x="551689" y="551689"/>
                </a:lnTo>
                <a:lnTo>
                  <a:pt x="0" y="551689"/>
                </a:lnTo>
                <a:lnTo>
                  <a:pt x="0" y="0"/>
                </a:lnTo>
                <a:close/>
              </a:path>
            </a:pathLst>
          </a:custGeom>
          <a:blipFill>
            <a:blip r:embed="rId7"/>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341491" y="6051085"/>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62888">
            <a:off x="15827254" y="-3881126"/>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862888">
            <a:off x="18088222" y="-3881126"/>
            <a:ext cx="5429187" cy="15382828"/>
            <a:chOff x="0" y="0"/>
            <a:chExt cx="1429909" cy="4051444"/>
          </a:xfrm>
        </p:grpSpPr>
        <p:sp>
          <p:nvSpPr>
            <p:cNvPr name="Freeform 7" id="7"/>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8" id="8"/>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852149">
            <a:off x="14691038" y="-1970389"/>
            <a:ext cx="887655" cy="5727768"/>
            <a:chOff x="0" y="0"/>
            <a:chExt cx="233786" cy="1508548"/>
          </a:xfrm>
        </p:grpSpPr>
        <p:sp>
          <p:nvSpPr>
            <p:cNvPr name="Freeform 10" id="10"/>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1" id="11"/>
            <p:cNvSpPr txBox="true"/>
            <p:nvPr/>
          </p:nvSpPr>
          <p:spPr>
            <a:xfrm>
              <a:off x="0" y="-57150"/>
              <a:ext cx="233786" cy="1565698"/>
            </a:xfrm>
            <a:prstGeom prst="rect">
              <a:avLst/>
            </a:prstGeom>
          </p:spPr>
          <p:txBody>
            <a:bodyPr anchor="ctr" rtlCol="false" tIns="50800" lIns="50800" bIns="50800" rIns="50800"/>
            <a:lstStyle/>
            <a:p>
              <a:pPr algn="ctr" marL="0" indent="0" lvl="0">
                <a:lnSpc>
                  <a:spcPts val="2659"/>
                </a:lnSpc>
                <a:spcBef>
                  <a:spcPct val="0"/>
                </a:spcBef>
              </a:pPr>
            </a:p>
          </p:txBody>
        </p:sp>
      </p:grpSp>
      <p:pic>
        <p:nvPicPr>
          <p:cNvPr name="Picture 12" id="12"/>
          <p:cNvPicPr>
            <a:picLocks noChangeAspect="true"/>
          </p:cNvPicPr>
          <p:nvPr/>
        </p:nvPicPr>
        <p:blipFill>
          <a:blip r:embed="rId4"/>
          <a:stretch>
            <a:fillRect/>
          </a:stretch>
        </p:blipFill>
        <p:spPr>
          <a:xfrm rot="0">
            <a:off x="380641" y="2406732"/>
            <a:ext cx="7776714" cy="7499627"/>
          </a:xfrm>
          <a:prstGeom prst="rect">
            <a:avLst/>
          </a:prstGeom>
        </p:spPr>
      </p:pic>
      <p:sp>
        <p:nvSpPr>
          <p:cNvPr name="TextBox 13" id="13"/>
          <p:cNvSpPr txBox="true"/>
          <p:nvPr/>
        </p:nvSpPr>
        <p:spPr>
          <a:xfrm rot="0">
            <a:off x="1028700" y="1351618"/>
            <a:ext cx="9889743" cy="985115"/>
          </a:xfrm>
          <a:prstGeom prst="rect">
            <a:avLst/>
          </a:prstGeom>
        </p:spPr>
        <p:txBody>
          <a:bodyPr anchor="t" rtlCol="false" tIns="0" lIns="0" bIns="0" rIns="0">
            <a:spAutoFit/>
          </a:bodyPr>
          <a:lstStyle/>
          <a:p>
            <a:pPr algn="l" marL="0" indent="0" lvl="0">
              <a:lnSpc>
                <a:spcPts val="7101"/>
              </a:lnSpc>
            </a:pPr>
            <a:r>
              <a:rPr lang="en-US" b="true" sz="6284" spc="-263">
                <a:solidFill>
                  <a:srgbClr val="39515A"/>
                </a:solidFill>
                <a:latin typeface="Poppins Semi-Bold"/>
                <a:ea typeface="Poppins Semi-Bold"/>
                <a:cs typeface="Poppins Semi-Bold"/>
                <a:sym typeface="Poppins Semi-Bold"/>
              </a:rPr>
              <a:t>Future Work &amp; Extensibility</a:t>
            </a:r>
          </a:p>
        </p:txBody>
      </p:sp>
      <p:sp>
        <p:nvSpPr>
          <p:cNvPr name="TextBox 14" id="14"/>
          <p:cNvSpPr txBox="true"/>
          <p:nvPr/>
        </p:nvSpPr>
        <p:spPr>
          <a:xfrm rot="0">
            <a:off x="8360654" y="3100868"/>
            <a:ext cx="6444909" cy="2734945"/>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Poppins"/>
                <a:ea typeface="Poppins"/>
                <a:cs typeface="Poppins"/>
                <a:sym typeface="Poppins"/>
              </a:rPr>
              <a:t>The AI Wine Quality Predictor is designed for growth. Our roadmap includes RESTful API development for third-party integration, deep learning exploration with neural networks, expanded datasets covering diverse wine regions, and mobile app development for on-the-go predictions.</a:t>
            </a:r>
          </a:p>
        </p:txBody>
      </p:sp>
      <p:sp>
        <p:nvSpPr>
          <p:cNvPr name="TextBox 15" id="15"/>
          <p:cNvSpPr txBox="true"/>
          <p:nvPr/>
        </p:nvSpPr>
        <p:spPr>
          <a:xfrm rot="0">
            <a:off x="8360654" y="7345222"/>
            <a:ext cx="7902265" cy="1563370"/>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Poppins"/>
                <a:ea typeface="Poppins"/>
                <a:cs typeface="Poppins"/>
                <a:sym typeface="Poppins"/>
              </a:rPr>
              <a:t>Join our open-source community to contribute new features, improve model accuracy, or help expand our training datasets. Every contribution moves us closer to production excellence.</a:t>
            </a:r>
          </a:p>
        </p:txBody>
      </p:sp>
      <p:grpSp>
        <p:nvGrpSpPr>
          <p:cNvPr name="Group 16" id="16"/>
          <p:cNvGrpSpPr/>
          <p:nvPr/>
        </p:nvGrpSpPr>
        <p:grpSpPr>
          <a:xfrm rot="0">
            <a:off x="8197834" y="6334775"/>
            <a:ext cx="5115578" cy="825303"/>
            <a:chOff x="0" y="0"/>
            <a:chExt cx="2519038" cy="406400"/>
          </a:xfrm>
        </p:grpSpPr>
        <p:sp>
          <p:nvSpPr>
            <p:cNvPr name="Freeform 17" id="17"/>
            <p:cNvSpPr/>
            <p:nvPr/>
          </p:nvSpPr>
          <p:spPr>
            <a:xfrm flipH="false" flipV="false" rot="0">
              <a:off x="0" y="0"/>
              <a:ext cx="2519038" cy="406400"/>
            </a:xfrm>
            <a:custGeom>
              <a:avLst/>
              <a:gdLst/>
              <a:ahLst/>
              <a:cxnLst/>
              <a:rect r="r" b="b" t="t" l="l"/>
              <a:pathLst>
                <a:path h="406400" w="2519038">
                  <a:moveTo>
                    <a:pt x="2315838" y="0"/>
                  </a:moveTo>
                  <a:cubicBezTo>
                    <a:pt x="2428062" y="0"/>
                    <a:pt x="2519038" y="90976"/>
                    <a:pt x="2519038" y="203200"/>
                  </a:cubicBezTo>
                  <a:cubicBezTo>
                    <a:pt x="2519038" y="315424"/>
                    <a:pt x="2428062" y="406400"/>
                    <a:pt x="2315838"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18" id="18"/>
            <p:cNvSpPr txBox="true"/>
            <p:nvPr/>
          </p:nvSpPr>
          <p:spPr>
            <a:xfrm>
              <a:off x="0" y="-57150"/>
              <a:ext cx="2519038" cy="46355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8627753" y="6434372"/>
            <a:ext cx="4255740" cy="515540"/>
          </a:xfrm>
          <a:prstGeom prst="rect">
            <a:avLst/>
          </a:prstGeom>
        </p:spPr>
        <p:txBody>
          <a:bodyPr anchor="t" rtlCol="false" tIns="0" lIns="0" bIns="0" rIns="0">
            <a:spAutoFit/>
          </a:bodyPr>
          <a:lstStyle/>
          <a:p>
            <a:pPr algn="ctr" marL="0" indent="0" lvl="0">
              <a:lnSpc>
                <a:spcPts val="3783"/>
              </a:lnSpc>
            </a:pPr>
            <a:r>
              <a:rPr lang="en-US" b="true" sz="3348" spc="-140">
                <a:solidFill>
                  <a:srgbClr val="FFFFFF"/>
                </a:solidFill>
                <a:latin typeface="Poppins Semi-Bold"/>
                <a:ea typeface="Poppins Semi-Bold"/>
                <a:cs typeface="Poppins Semi-Bold"/>
                <a:sym typeface="Poppins Semi-Bold"/>
              </a:rPr>
              <a:t>Contribute on GitHub</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85666" y="4343038"/>
            <a:ext cx="25966164" cy="6394168"/>
          </a:xfrm>
          <a:custGeom>
            <a:avLst/>
            <a:gdLst/>
            <a:ahLst/>
            <a:cxnLst/>
            <a:rect r="r" b="b" t="t" l="l"/>
            <a:pathLst>
              <a:path h="6394168" w="25966164">
                <a:moveTo>
                  <a:pt x="0" y="0"/>
                </a:moveTo>
                <a:lnTo>
                  <a:pt x="25966164" y="0"/>
                </a:lnTo>
                <a:lnTo>
                  <a:pt x="25966164" y="6394168"/>
                </a:lnTo>
                <a:lnTo>
                  <a:pt x="0" y="6394168"/>
                </a:lnTo>
                <a:lnTo>
                  <a:pt x="0" y="0"/>
                </a:lnTo>
                <a:close/>
              </a:path>
            </a:pathLst>
          </a:custGeom>
          <a:blipFill>
            <a:blip r:embed="rId2">
              <a:alphaModFix amt="6000"/>
            </a:blip>
            <a:stretch>
              <a:fillRect l="0" t="0" r="0" b="0"/>
            </a:stretch>
          </a:blipFill>
        </p:spPr>
      </p:sp>
      <p:grpSp>
        <p:nvGrpSpPr>
          <p:cNvPr name="Group 3" id="3"/>
          <p:cNvGrpSpPr/>
          <p:nvPr/>
        </p:nvGrpSpPr>
        <p:grpSpPr>
          <a:xfrm rot="-1168322">
            <a:off x="-591160" y="-1840415"/>
            <a:ext cx="7434779" cy="15382828"/>
            <a:chOff x="0" y="0"/>
            <a:chExt cx="1958131" cy="4051444"/>
          </a:xfrm>
        </p:grpSpPr>
        <p:sp>
          <p:nvSpPr>
            <p:cNvPr name="Freeform 4" id="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5" id="5"/>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6579275">
            <a:off x="-3647729" y="4649456"/>
            <a:ext cx="13353097" cy="404258"/>
          </a:xfrm>
          <a:custGeom>
            <a:avLst/>
            <a:gdLst/>
            <a:ahLst/>
            <a:cxnLst/>
            <a:rect r="r" b="b" t="t" l="l"/>
            <a:pathLst>
              <a:path h="404258" w="13353097">
                <a:moveTo>
                  <a:pt x="0" y="0"/>
                </a:moveTo>
                <a:lnTo>
                  <a:pt x="13353096" y="0"/>
                </a:lnTo>
                <a:lnTo>
                  <a:pt x="13353096" y="404258"/>
                </a:lnTo>
                <a:lnTo>
                  <a:pt x="0" y="404258"/>
                </a:lnTo>
                <a:lnTo>
                  <a:pt x="0" y="0"/>
                </a:lnTo>
                <a:close/>
              </a:path>
            </a:pathLst>
          </a:custGeom>
          <a:blipFill>
            <a:blip r:embed="rId3"/>
            <a:stretch>
              <a:fillRect l="0" t="-1843398" r="0" b="0"/>
            </a:stretch>
          </a:blipFill>
        </p:spPr>
      </p:sp>
      <p:grpSp>
        <p:nvGrpSpPr>
          <p:cNvPr name="Group 7" id="7"/>
          <p:cNvGrpSpPr/>
          <p:nvPr/>
        </p:nvGrpSpPr>
        <p:grpSpPr>
          <a:xfrm rot="-1168322">
            <a:off x="-4404526" y="-1840415"/>
            <a:ext cx="7434779" cy="15382828"/>
            <a:chOff x="0" y="0"/>
            <a:chExt cx="1958131" cy="4051444"/>
          </a:xfrm>
        </p:grpSpPr>
        <p:sp>
          <p:nvSpPr>
            <p:cNvPr name="Freeform 8" id="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9" id="9"/>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592816" y="1461689"/>
            <a:ext cx="6973020" cy="7363621"/>
            <a:chOff x="0" y="0"/>
            <a:chExt cx="5960491" cy="6294374"/>
          </a:xfrm>
        </p:grpSpPr>
        <p:sp>
          <p:nvSpPr>
            <p:cNvPr name="Freeform 11" id="11"/>
            <p:cNvSpPr/>
            <p:nvPr/>
          </p:nvSpPr>
          <p:spPr>
            <a:xfrm flipH="false" flipV="false" rot="0">
              <a:off x="0" y="-44"/>
              <a:ext cx="5960480" cy="6294418"/>
            </a:xfrm>
            <a:custGeom>
              <a:avLst/>
              <a:gdLst/>
              <a:ahLst/>
              <a:cxnLst/>
              <a:rect r="r" b="b" t="t" l="l"/>
              <a:pathLst>
                <a:path h="6294418" w="5960480">
                  <a:moveTo>
                    <a:pt x="4226814" y="1119549"/>
                  </a:moveTo>
                  <a:cubicBezTo>
                    <a:pt x="4173601" y="967911"/>
                    <a:pt x="4001770" y="815892"/>
                    <a:pt x="3844798" y="781729"/>
                  </a:cubicBezTo>
                  <a:lnTo>
                    <a:pt x="285369" y="6521"/>
                  </a:lnTo>
                  <a:cubicBezTo>
                    <a:pt x="128397" y="-27642"/>
                    <a:pt x="0" y="75863"/>
                    <a:pt x="0" y="236518"/>
                  </a:cubicBezTo>
                  <a:lnTo>
                    <a:pt x="0" y="6002318"/>
                  </a:lnTo>
                  <a:cubicBezTo>
                    <a:pt x="0" y="6162973"/>
                    <a:pt x="131445" y="6294418"/>
                    <a:pt x="292100" y="6294418"/>
                  </a:cubicBezTo>
                  <a:lnTo>
                    <a:pt x="5749544" y="6294418"/>
                  </a:lnTo>
                  <a:cubicBezTo>
                    <a:pt x="5910199" y="6294418"/>
                    <a:pt x="5998083" y="6170339"/>
                    <a:pt x="5944997" y="6018828"/>
                  </a:cubicBezTo>
                  <a:lnTo>
                    <a:pt x="4226814" y="1119549"/>
                  </a:lnTo>
                  <a:close/>
                </a:path>
              </a:pathLst>
            </a:custGeom>
            <a:blipFill>
              <a:blip r:embed="rId4"/>
              <a:stretch>
                <a:fillRect l="-2801" t="0" r="-2801" b="0"/>
              </a:stretch>
            </a:blipFill>
            <a:ln w="114300" cap="sq">
              <a:solidFill>
                <a:srgbClr val="FFFFFF"/>
              </a:solidFill>
              <a:prstDash val="solid"/>
              <a:miter/>
            </a:ln>
          </p:spPr>
        </p:sp>
      </p:grpSp>
      <p:sp>
        <p:nvSpPr>
          <p:cNvPr name="Freeform 12" id="12"/>
          <p:cNvSpPr/>
          <p:nvPr/>
        </p:nvSpPr>
        <p:spPr>
          <a:xfrm flipH="false" flipV="false" rot="0">
            <a:off x="16390596" y="1107145"/>
            <a:ext cx="949142" cy="706402"/>
          </a:xfrm>
          <a:custGeom>
            <a:avLst/>
            <a:gdLst/>
            <a:ahLst/>
            <a:cxnLst/>
            <a:rect r="r" b="b" t="t" l="l"/>
            <a:pathLst>
              <a:path h="706402" w="949142">
                <a:moveTo>
                  <a:pt x="0" y="0"/>
                </a:moveTo>
                <a:lnTo>
                  <a:pt x="949142" y="0"/>
                </a:lnTo>
                <a:lnTo>
                  <a:pt x="949142" y="706402"/>
                </a:lnTo>
                <a:lnTo>
                  <a:pt x="0" y="706402"/>
                </a:lnTo>
                <a:lnTo>
                  <a:pt x="0" y="0"/>
                </a:lnTo>
                <a:close/>
              </a:path>
            </a:pathLst>
          </a:custGeom>
          <a:blipFill>
            <a:blip r:embed="rId5"/>
            <a:stretch>
              <a:fillRect l="0" t="0" r="0" b="0"/>
            </a:stretch>
          </a:blipFill>
        </p:spPr>
      </p:sp>
      <p:grpSp>
        <p:nvGrpSpPr>
          <p:cNvPr name="Group 13" id="13"/>
          <p:cNvGrpSpPr/>
          <p:nvPr/>
        </p:nvGrpSpPr>
        <p:grpSpPr>
          <a:xfrm rot="-1168322">
            <a:off x="4937715" y="-2713330"/>
            <a:ext cx="887655" cy="8696949"/>
            <a:chOff x="0" y="0"/>
            <a:chExt cx="233786" cy="2290554"/>
          </a:xfrm>
        </p:grpSpPr>
        <p:sp>
          <p:nvSpPr>
            <p:cNvPr name="Freeform 14" id="14"/>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5" id="15"/>
            <p:cNvSpPr txBox="true"/>
            <p:nvPr/>
          </p:nvSpPr>
          <p:spPr>
            <a:xfrm>
              <a:off x="0" y="-57150"/>
              <a:ext cx="233786" cy="23477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1168322">
            <a:off x="7299902" y="5618795"/>
            <a:ext cx="887655" cy="5600547"/>
            <a:chOff x="0" y="0"/>
            <a:chExt cx="233786" cy="1475041"/>
          </a:xfrm>
        </p:grpSpPr>
        <p:sp>
          <p:nvSpPr>
            <p:cNvPr name="Freeform 17" id="17"/>
            <p:cNvSpPr/>
            <p:nvPr/>
          </p:nvSpPr>
          <p:spPr>
            <a:xfrm flipH="false" flipV="false" rot="0">
              <a:off x="0" y="0"/>
              <a:ext cx="233786" cy="1475041"/>
            </a:xfrm>
            <a:custGeom>
              <a:avLst/>
              <a:gdLst/>
              <a:ahLst/>
              <a:cxnLst/>
              <a:rect r="r" b="b" t="t" l="l"/>
              <a:pathLst>
                <a:path h="1475041" w="233786">
                  <a:moveTo>
                    <a:pt x="0" y="0"/>
                  </a:moveTo>
                  <a:lnTo>
                    <a:pt x="233786" y="0"/>
                  </a:lnTo>
                  <a:lnTo>
                    <a:pt x="233786" y="1475041"/>
                  </a:lnTo>
                  <a:lnTo>
                    <a:pt x="0" y="1475041"/>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18" id="18"/>
            <p:cNvSpPr txBox="true"/>
            <p:nvPr/>
          </p:nvSpPr>
          <p:spPr>
            <a:xfrm>
              <a:off x="0" y="-57150"/>
              <a:ext cx="233786" cy="153219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9" id="19"/>
          <p:cNvSpPr/>
          <p:nvPr/>
        </p:nvSpPr>
        <p:spPr>
          <a:xfrm flipH="false" flipV="false" rot="0">
            <a:off x="322406" y="8252378"/>
            <a:ext cx="1014510" cy="1005922"/>
          </a:xfrm>
          <a:custGeom>
            <a:avLst/>
            <a:gdLst/>
            <a:ahLst/>
            <a:cxnLst/>
            <a:rect r="r" b="b" t="t" l="l"/>
            <a:pathLst>
              <a:path h="1005922" w="1014510">
                <a:moveTo>
                  <a:pt x="0" y="0"/>
                </a:moveTo>
                <a:lnTo>
                  <a:pt x="1014510" y="0"/>
                </a:lnTo>
                <a:lnTo>
                  <a:pt x="1014510" y="1005922"/>
                </a:lnTo>
                <a:lnTo>
                  <a:pt x="0" y="1005922"/>
                </a:lnTo>
                <a:lnTo>
                  <a:pt x="0" y="0"/>
                </a:lnTo>
                <a:close/>
              </a:path>
            </a:pathLst>
          </a:custGeom>
          <a:blipFill>
            <a:blip r:embed="rId6">
              <a:extLst>
                <a:ext uri="{96DAC541-7B7A-43D3-8B79-37D633B846F1}">
                  <asvg:svgBlip xmlns:asvg="http://schemas.microsoft.com/office/drawing/2016/SVG/main" r:embed="rId7"/>
                </a:ext>
              </a:extLst>
            </a:blip>
            <a:stretch>
              <a:fillRect l="0" t="-106388" r="-103152" b="0"/>
            </a:stretch>
          </a:blipFill>
        </p:spPr>
      </p:sp>
      <p:sp>
        <p:nvSpPr>
          <p:cNvPr name="Freeform 20" id="20"/>
          <p:cNvSpPr/>
          <p:nvPr/>
        </p:nvSpPr>
        <p:spPr>
          <a:xfrm flipH="false" flipV="false" rot="0">
            <a:off x="2631539" y="1080376"/>
            <a:ext cx="1764021" cy="1764021"/>
          </a:xfrm>
          <a:custGeom>
            <a:avLst/>
            <a:gdLst/>
            <a:ahLst/>
            <a:cxnLst/>
            <a:rect r="r" b="b" t="t" l="l"/>
            <a:pathLst>
              <a:path h="1764021" w="1764021">
                <a:moveTo>
                  <a:pt x="0" y="0"/>
                </a:moveTo>
                <a:lnTo>
                  <a:pt x="1764021" y="0"/>
                </a:lnTo>
                <a:lnTo>
                  <a:pt x="1764021" y="1764020"/>
                </a:lnTo>
                <a:lnTo>
                  <a:pt x="0" y="1764020"/>
                </a:lnTo>
                <a:lnTo>
                  <a:pt x="0" y="0"/>
                </a:lnTo>
                <a:close/>
              </a:path>
            </a:pathLst>
          </a:custGeom>
          <a:blipFill>
            <a:blip r:embed="rId8">
              <a:alphaModFix amt="44999"/>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4953811" y="5004084"/>
            <a:ext cx="4591447" cy="4583099"/>
          </a:xfrm>
          <a:custGeom>
            <a:avLst/>
            <a:gdLst/>
            <a:ahLst/>
            <a:cxnLst/>
            <a:rect r="r" b="b" t="t" l="l"/>
            <a:pathLst>
              <a:path h="4583099" w="4591447">
                <a:moveTo>
                  <a:pt x="0" y="0"/>
                </a:moveTo>
                <a:lnTo>
                  <a:pt x="4591448" y="0"/>
                </a:lnTo>
                <a:lnTo>
                  <a:pt x="4591448" y="4583100"/>
                </a:lnTo>
                <a:lnTo>
                  <a:pt x="0" y="4583100"/>
                </a:lnTo>
                <a:lnTo>
                  <a:pt x="0" y="0"/>
                </a:lnTo>
                <a:close/>
              </a:path>
            </a:pathLst>
          </a:custGeom>
          <a:blipFill>
            <a:blip r:embed="rId10"/>
            <a:stretch>
              <a:fillRect l="0" t="0" r="0" b="0"/>
            </a:stretch>
          </a:blipFill>
        </p:spPr>
      </p:sp>
      <p:grpSp>
        <p:nvGrpSpPr>
          <p:cNvPr name="Group 22" id="22"/>
          <p:cNvGrpSpPr/>
          <p:nvPr/>
        </p:nvGrpSpPr>
        <p:grpSpPr>
          <a:xfrm rot="0">
            <a:off x="5269577" y="5332968"/>
            <a:ext cx="3925332" cy="392533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989B"/>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pPr>
            </a:p>
          </p:txBody>
        </p:sp>
      </p:grpSp>
      <p:grpSp>
        <p:nvGrpSpPr>
          <p:cNvPr name="Group 25" id="25"/>
          <p:cNvGrpSpPr/>
          <p:nvPr/>
        </p:nvGrpSpPr>
        <p:grpSpPr>
          <a:xfrm rot="0">
            <a:off x="5505087" y="5568478"/>
            <a:ext cx="3454312" cy="345431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0" r="0" b="0"/>
              </a:stretch>
            </a:blipFill>
          </p:spPr>
        </p:sp>
      </p:grpSp>
      <p:sp>
        <p:nvSpPr>
          <p:cNvPr name="Freeform 27" id="27"/>
          <p:cNvSpPr/>
          <p:nvPr/>
        </p:nvSpPr>
        <p:spPr>
          <a:xfrm flipH="false" flipV="false" rot="0">
            <a:off x="16390596" y="8288543"/>
            <a:ext cx="885094" cy="907461"/>
          </a:xfrm>
          <a:custGeom>
            <a:avLst/>
            <a:gdLst/>
            <a:ahLst/>
            <a:cxnLst/>
            <a:rect r="r" b="b" t="t" l="l"/>
            <a:pathLst>
              <a:path h="907461" w="885094">
                <a:moveTo>
                  <a:pt x="0" y="0"/>
                </a:moveTo>
                <a:lnTo>
                  <a:pt x="885094" y="0"/>
                </a:lnTo>
                <a:lnTo>
                  <a:pt x="885094" y="907461"/>
                </a:lnTo>
                <a:lnTo>
                  <a:pt x="0" y="907461"/>
                </a:lnTo>
                <a:lnTo>
                  <a:pt x="0" y="0"/>
                </a:lnTo>
                <a:close/>
              </a:path>
            </a:pathLst>
          </a:custGeom>
          <a:blipFill>
            <a:blip r:embed="rId12"/>
            <a:stretch>
              <a:fillRect l="0" t="0" r="0" b="0"/>
            </a:stretch>
          </a:blipFill>
        </p:spPr>
      </p:sp>
      <p:sp>
        <p:nvSpPr>
          <p:cNvPr name="Freeform 28" id="28"/>
          <p:cNvSpPr/>
          <p:nvPr/>
        </p:nvSpPr>
        <p:spPr>
          <a:xfrm flipH="false" flipV="false" rot="0">
            <a:off x="7183577" y="1662427"/>
            <a:ext cx="1775822" cy="216327"/>
          </a:xfrm>
          <a:custGeom>
            <a:avLst/>
            <a:gdLst/>
            <a:ahLst/>
            <a:cxnLst/>
            <a:rect r="r" b="b" t="t" l="l"/>
            <a:pathLst>
              <a:path h="216327" w="1775822">
                <a:moveTo>
                  <a:pt x="0" y="0"/>
                </a:moveTo>
                <a:lnTo>
                  <a:pt x="1775822" y="0"/>
                </a:lnTo>
                <a:lnTo>
                  <a:pt x="1775822" y="216327"/>
                </a:lnTo>
                <a:lnTo>
                  <a:pt x="0" y="21632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9" id="29"/>
          <p:cNvSpPr txBox="true"/>
          <p:nvPr/>
        </p:nvSpPr>
        <p:spPr>
          <a:xfrm rot="0">
            <a:off x="12726743" y="1107386"/>
            <a:ext cx="3379355" cy="706160"/>
          </a:xfrm>
          <a:prstGeom prst="rect">
            <a:avLst/>
          </a:prstGeom>
        </p:spPr>
        <p:txBody>
          <a:bodyPr anchor="t" rtlCol="false" tIns="0" lIns="0" bIns="0" rIns="0">
            <a:spAutoFit/>
          </a:bodyPr>
          <a:lstStyle/>
          <a:p>
            <a:pPr algn="r" marL="0" indent="0" lvl="0">
              <a:lnSpc>
                <a:spcPts val="2755"/>
              </a:lnSpc>
            </a:pPr>
            <a:r>
              <a:rPr lang="en-US" b="true" sz="2417">
                <a:solidFill>
                  <a:srgbClr val="000000"/>
                </a:solidFill>
                <a:latin typeface="Poppins Bold"/>
                <a:ea typeface="Poppins Bold"/>
                <a:cs typeface="Poppins Bold"/>
                <a:sym typeface="Poppins Bold"/>
              </a:rPr>
              <a:t>AI Wine Quality Predictor</a:t>
            </a:r>
          </a:p>
        </p:txBody>
      </p:sp>
      <p:sp>
        <p:nvSpPr>
          <p:cNvPr name="TextBox 30" id="30"/>
          <p:cNvSpPr txBox="true"/>
          <p:nvPr/>
        </p:nvSpPr>
        <p:spPr>
          <a:xfrm rot="0">
            <a:off x="9943496" y="8745814"/>
            <a:ext cx="6109409" cy="321633"/>
          </a:xfrm>
          <a:prstGeom prst="rect">
            <a:avLst/>
          </a:prstGeom>
        </p:spPr>
        <p:txBody>
          <a:bodyPr anchor="t" rtlCol="false" tIns="0" lIns="0" bIns="0" rIns="0">
            <a:spAutoFit/>
          </a:bodyPr>
          <a:lstStyle/>
          <a:p>
            <a:pPr algn="r" marL="0" indent="0" lvl="0">
              <a:lnSpc>
                <a:spcPts val="2405"/>
              </a:lnSpc>
            </a:pPr>
            <a:r>
              <a:rPr lang="en-US" b="true" sz="2110">
                <a:solidFill>
                  <a:srgbClr val="000000"/>
                </a:solidFill>
                <a:latin typeface="Poppins Bold"/>
                <a:ea typeface="Poppins Bold"/>
                <a:cs typeface="Poppins Bold"/>
                <a:sym typeface="Poppins Bold"/>
              </a:rPr>
              <a:t>wine-quality-predictor-hn1v.onrender.com</a:t>
            </a:r>
          </a:p>
        </p:txBody>
      </p:sp>
      <p:sp>
        <p:nvSpPr>
          <p:cNvPr name="TextBox 31" id="31"/>
          <p:cNvSpPr txBox="true"/>
          <p:nvPr/>
        </p:nvSpPr>
        <p:spPr>
          <a:xfrm rot="0">
            <a:off x="11665759" y="8473197"/>
            <a:ext cx="4278875" cy="349317"/>
          </a:xfrm>
          <a:prstGeom prst="rect">
            <a:avLst/>
          </a:prstGeom>
        </p:spPr>
        <p:txBody>
          <a:bodyPr anchor="t" rtlCol="false" tIns="0" lIns="0" bIns="0" rIns="0">
            <a:spAutoFit/>
          </a:bodyPr>
          <a:lstStyle/>
          <a:p>
            <a:pPr algn="r" marL="0" indent="0" lvl="0">
              <a:lnSpc>
                <a:spcPts val="2650"/>
              </a:lnSpc>
            </a:pPr>
            <a:r>
              <a:rPr lang="en-US" sz="2324">
                <a:solidFill>
                  <a:srgbClr val="000000"/>
                </a:solidFill>
                <a:latin typeface="Poppins"/>
                <a:ea typeface="Poppins"/>
                <a:cs typeface="Poppins"/>
                <a:sym typeface="Poppins"/>
              </a:rPr>
              <a:t>Try the Live Demo</a:t>
            </a:r>
          </a:p>
        </p:txBody>
      </p:sp>
      <p:sp>
        <p:nvSpPr>
          <p:cNvPr name="TextBox 32" id="32"/>
          <p:cNvSpPr txBox="true"/>
          <p:nvPr/>
        </p:nvSpPr>
        <p:spPr>
          <a:xfrm rot="0">
            <a:off x="8194185" y="2350892"/>
            <a:ext cx="9065115" cy="3253609"/>
          </a:xfrm>
          <a:prstGeom prst="rect">
            <a:avLst/>
          </a:prstGeom>
        </p:spPr>
        <p:txBody>
          <a:bodyPr anchor="t" rtlCol="false" tIns="0" lIns="0" bIns="0" rIns="0">
            <a:spAutoFit/>
          </a:bodyPr>
          <a:lstStyle/>
          <a:p>
            <a:pPr algn="r" marL="0" indent="0" lvl="0">
              <a:lnSpc>
                <a:spcPts val="23713"/>
              </a:lnSpc>
            </a:pPr>
            <a:r>
              <a:rPr lang="en-US" b="true" sz="20985" spc="-881">
                <a:solidFill>
                  <a:srgbClr val="20989B"/>
                </a:solidFill>
                <a:latin typeface="Poppins Semi-Bold"/>
                <a:ea typeface="Poppins Semi-Bold"/>
                <a:cs typeface="Poppins Semi-Bold"/>
                <a:sym typeface="Poppins Semi-Bold"/>
              </a:rPr>
              <a:t>THANK</a:t>
            </a:r>
          </a:p>
        </p:txBody>
      </p:sp>
      <p:sp>
        <p:nvSpPr>
          <p:cNvPr name="TextBox 33" id="33"/>
          <p:cNvSpPr txBox="true"/>
          <p:nvPr/>
        </p:nvSpPr>
        <p:spPr>
          <a:xfrm rot="0">
            <a:off x="11107618" y="4625218"/>
            <a:ext cx="6151682" cy="3253609"/>
          </a:xfrm>
          <a:prstGeom prst="rect">
            <a:avLst/>
          </a:prstGeom>
        </p:spPr>
        <p:txBody>
          <a:bodyPr anchor="t" rtlCol="false" tIns="0" lIns="0" bIns="0" rIns="0">
            <a:spAutoFit/>
          </a:bodyPr>
          <a:lstStyle/>
          <a:p>
            <a:pPr algn="r" marL="0" indent="0" lvl="0">
              <a:lnSpc>
                <a:spcPts val="23713"/>
              </a:lnSpc>
            </a:pPr>
            <a:r>
              <a:rPr lang="en-US" b="true" sz="20985" spc="-881">
                <a:solidFill>
                  <a:srgbClr val="39515A"/>
                </a:solidFill>
                <a:latin typeface="Poppins Semi-Bold"/>
                <a:ea typeface="Poppins Semi-Bold"/>
                <a:cs typeface="Poppins Semi-Bold"/>
                <a:sym typeface="Poppins Semi-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DAHGKOGfwSw</dc:identifier>
  <dcterms:modified xsi:type="dcterms:W3CDTF">2011-08-01T06:04:30Z</dcterms:modified>
  <cp:revision>1</cp:revision>
  <dc:title>AI Wine Quality Predictor: Full-Stack MLOps Deck</dc:title>
</cp:coreProperties>
</file>